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Titillium Web"/>
      <p:regular r:id="rId23"/>
      <p:bold r:id="rId24"/>
      <p:italic r:id="rId25"/>
      <p:boldItalic r:id="rId26"/>
    </p:embeddedFont>
    <p:embeddedFont>
      <p:font typeface="Rajdhani"/>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TitilliumWeb-bold.fntdata"/><Relationship Id="rId23" Type="http://schemas.openxmlformats.org/officeDocument/2006/relationships/font" Target="fonts/TitilliumWeb-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itilliumWeb-boldItalic.fntdata"/><Relationship Id="rId25" Type="http://schemas.openxmlformats.org/officeDocument/2006/relationships/font" Target="fonts/TitilliumWeb-italic.fntdata"/><Relationship Id="rId28" Type="http://schemas.openxmlformats.org/officeDocument/2006/relationships/font" Target="fonts/Rajdhani-bold.fntdata"/><Relationship Id="rId27" Type="http://schemas.openxmlformats.org/officeDocument/2006/relationships/font" Target="fonts/Rajdhani-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3.png"/><Relationship Id="rId5" Type="http://schemas.openxmlformats.org/officeDocument/2006/relationships/image" Target="../media/image46.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3.png"/><Relationship Id="rId6" Type="http://schemas.openxmlformats.org/officeDocument/2006/relationships/image" Target="../media/image13.png"/><Relationship Id="rId7"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42.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4.png"/><Relationship Id="rId8"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8.png"/><Relationship Id="rId9" Type="http://schemas.openxmlformats.org/officeDocument/2006/relationships/image" Target="../media/image63.png"/><Relationship Id="rId5" Type="http://schemas.openxmlformats.org/officeDocument/2006/relationships/image" Target="../media/image31.png"/><Relationship Id="rId6" Type="http://schemas.openxmlformats.org/officeDocument/2006/relationships/image" Target="../media/image34.png"/><Relationship Id="rId7" Type="http://schemas.openxmlformats.org/officeDocument/2006/relationships/image" Target="../media/image47.png"/><Relationship Id="rId8" Type="http://schemas.openxmlformats.org/officeDocument/2006/relationships/image" Target="../media/image6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0.png"/><Relationship Id="rId9" Type="http://schemas.openxmlformats.org/officeDocument/2006/relationships/image" Target="../media/image41.png"/><Relationship Id="rId5" Type="http://schemas.openxmlformats.org/officeDocument/2006/relationships/image" Target="../media/image33.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44.png"/><Relationship Id="rId5"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9.png"/><Relationship Id="rId4" Type="http://schemas.openxmlformats.org/officeDocument/2006/relationships/image" Target="../media/image57.png"/><Relationship Id="rId9" Type="http://schemas.openxmlformats.org/officeDocument/2006/relationships/image" Target="../media/image52.png"/><Relationship Id="rId5" Type="http://schemas.openxmlformats.org/officeDocument/2006/relationships/image" Target="../media/image40.png"/><Relationship Id="rId6" Type="http://schemas.openxmlformats.org/officeDocument/2006/relationships/image" Target="../media/image43.png"/><Relationship Id="rId7" Type="http://schemas.openxmlformats.org/officeDocument/2006/relationships/image" Target="../media/image59.png"/><Relationship Id="rId8"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1.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0.png"/><Relationship Id="rId4" Type="http://schemas.openxmlformats.org/officeDocument/2006/relationships/image" Target="../media/image64.png"/><Relationship Id="rId9" Type="http://schemas.openxmlformats.org/officeDocument/2006/relationships/image" Target="../media/image67.png"/><Relationship Id="rId5" Type="http://schemas.openxmlformats.org/officeDocument/2006/relationships/image" Target="../media/image61.png"/><Relationship Id="rId6" Type="http://schemas.openxmlformats.org/officeDocument/2006/relationships/image" Target="../media/image56.png"/><Relationship Id="rId7" Type="http://schemas.openxmlformats.org/officeDocument/2006/relationships/image" Target="../media/image55.png"/><Relationship Id="rId8" Type="http://schemas.openxmlformats.org/officeDocument/2006/relationships/image" Target="../media/image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4.png"/><Relationship Id="rId4" Type="http://schemas.openxmlformats.org/officeDocument/2006/relationships/image" Target="../media/image66.png"/><Relationship Id="rId5"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095500" y="1807815"/>
            <a:ext cx="8001000" cy="1095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FFFFFF"/>
                </a:solidFill>
                <a:latin typeface="Rajdhani"/>
                <a:ea typeface="Rajdhani"/>
                <a:cs typeface="Rajdhani"/>
                <a:sym typeface="Rajdhani"/>
              </a:rPr>
              <a:t>PROJECT H.M.K.</a:t>
            </a:r>
            <a:endParaRPr/>
          </a:p>
        </p:txBody>
      </p:sp>
      <p:sp>
        <p:nvSpPr>
          <p:cNvPr id="86" name="Google Shape;86;p13"/>
          <p:cNvSpPr txBox="1"/>
          <p:nvPr/>
        </p:nvSpPr>
        <p:spPr>
          <a:xfrm>
            <a:off x="2286000" y="3093690"/>
            <a:ext cx="7620000" cy="128007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00F0FF"/>
                </a:solidFill>
                <a:latin typeface="Titillium Web"/>
                <a:ea typeface="Titillium Web"/>
                <a:cs typeface="Titillium Web"/>
                <a:sym typeface="Titillium Web"/>
              </a:rPr>
              <a:t>Intelligent AI Voice Assistant</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00F0FF"/>
                </a:solidFill>
                <a:latin typeface="Titillium Web"/>
                <a:ea typeface="Titillium Web"/>
                <a:cs typeface="Titillium Web"/>
                <a:sym typeface="Titillium Web"/>
              </a:rPr>
              <a:t> Designed to understand human speech, process it using advanced AI models, and respond naturally.</a:t>
            </a:r>
            <a:endParaRPr/>
          </a:p>
        </p:txBody>
      </p:sp>
      <p:sp>
        <p:nvSpPr>
          <p:cNvPr id="87" name="Google Shape;87;p13"/>
          <p:cNvSpPr txBox="1"/>
          <p:nvPr/>
        </p:nvSpPr>
        <p:spPr>
          <a:xfrm>
            <a:off x="2286000" y="4754760"/>
            <a:ext cx="7620000" cy="295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0055"/>
                </a:solidFill>
                <a:latin typeface="Titillium Web"/>
                <a:ea typeface="Titillium Web"/>
                <a:cs typeface="Titillium Web"/>
                <a:sym typeface="Titillium Web"/>
              </a:rPr>
              <a:t>Created by: Harshit Raizada | Madhav Gaba | Kabir Khurana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581025" y="2700337"/>
            <a:ext cx="5324475" cy="3019425"/>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6286500" y="2547937"/>
            <a:ext cx="5324475" cy="3324225"/>
          </a:xfrm>
          <a:prstGeom prst="rect">
            <a:avLst/>
          </a:prstGeom>
          <a:noFill/>
          <a:ln>
            <a:noFill/>
          </a:ln>
        </p:spPr>
      </p:pic>
      <p:sp>
        <p:nvSpPr>
          <p:cNvPr id="95" name="Google Shape;95;p14"/>
          <p:cNvSpPr txBox="1"/>
          <p:nvPr/>
        </p:nvSpPr>
        <p:spPr>
          <a:xfrm>
            <a:off x="771525" y="581025"/>
            <a:ext cx="11381422" cy="118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UNLOCKING NATURAL INTERACTION WITH VOICE ASSISTANTS</a:t>
            </a:r>
            <a:endParaRPr/>
          </a:p>
        </p:txBody>
      </p:sp>
      <p:sp>
        <p:nvSpPr>
          <p:cNvPr id="96" name="Google Shape;96;p14"/>
          <p:cNvSpPr/>
          <p:nvPr/>
        </p:nvSpPr>
        <p:spPr>
          <a:xfrm>
            <a:off x="581025" y="581025"/>
            <a:ext cx="47625" cy="118110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971550" y="3090862"/>
            <a:ext cx="4770596" cy="3524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F0055"/>
                </a:solidFill>
                <a:latin typeface="Rajdhani"/>
                <a:ea typeface="Rajdhani"/>
                <a:cs typeface="Rajdhani"/>
                <a:sym typeface="Rajdhani"/>
              </a:rPr>
              <a:t>THE REVOLUTION</a:t>
            </a:r>
            <a:endParaRPr/>
          </a:p>
        </p:txBody>
      </p:sp>
      <p:sp>
        <p:nvSpPr>
          <p:cNvPr id="98" name="Google Shape;98;p14"/>
          <p:cNvSpPr/>
          <p:nvPr/>
        </p:nvSpPr>
        <p:spPr>
          <a:xfrm>
            <a:off x="971550" y="3529012"/>
            <a:ext cx="4543425" cy="9525"/>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txBox="1"/>
          <p:nvPr/>
        </p:nvSpPr>
        <p:spPr>
          <a:xfrm>
            <a:off x="971550" y="3919537"/>
            <a:ext cx="45434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Titillium Web"/>
                <a:ea typeface="Titillium Web"/>
                <a:cs typeface="Titillium Web"/>
                <a:sym typeface="Titillium Web"/>
              </a:rPr>
              <a:t>Voice assistants revolutionize technology use by enabling natural communication through voice commands instead of typing or tapping. They transform voice commands into seamless responses.</a:t>
            </a:r>
            <a:endParaRPr/>
          </a:p>
        </p:txBody>
      </p:sp>
      <p:sp>
        <p:nvSpPr>
          <p:cNvPr id="100" name="Google Shape;100;p14"/>
          <p:cNvSpPr txBox="1"/>
          <p:nvPr/>
        </p:nvSpPr>
        <p:spPr>
          <a:xfrm>
            <a:off x="6677025" y="2938462"/>
            <a:ext cx="4770596" cy="3524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F0055"/>
                </a:solidFill>
                <a:latin typeface="Rajdhani"/>
                <a:ea typeface="Rajdhani"/>
                <a:cs typeface="Rajdhani"/>
                <a:sym typeface="Rajdhani"/>
              </a:rPr>
              <a:t>HOW IT WORKS</a:t>
            </a:r>
            <a:endParaRPr/>
          </a:p>
        </p:txBody>
      </p:sp>
      <p:sp>
        <p:nvSpPr>
          <p:cNvPr id="101" name="Google Shape;101;p14"/>
          <p:cNvSpPr/>
          <p:nvPr/>
        </p:nvSpPr>
        <p:spPr>
          <a:xfrm>
            <a:off x="6677025" y="3376612"/>
            <a:ext cx="4543425" cy="9525"/>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txBox="1"/>
          <p:nvPr/>
        </p:nvSpPr>
        <p:spPr>
          <a:xfrm>
            <a:off x="6677025" y="3767137"/>
            <a:ext cx="45434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Titillium Web"/>
                <a:ea typeface="Titillium Web"/>
                <a:cs typeface="Titillium Web"/>
                <a:sym typeface="Titillium Web"/>
              </a:rPr>
              <a:t>Leading examples such as Siri, Alexa, and Google Assistant leverage artificial intelligence, machine learning, and speech processing to understand and respond in real time. This technology converts spoken language into commands processed by AI.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image.png" id="107" name="Google Shape;10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1724025" y="2813744"/>
            <a:ext cx="571500" cy="571500"/>
          </a:xfrm>
          <a:prstGeom prst="rect">
            <a:avLst/>
          </a:prstGeom>
          <a:noFill/>
          <a:ln>
            <a:noFill/>
          </a:ln>
        </p:spPr>
      </p:pic>
      <p:pic>
        <p:nvPicPr>
          <p:cNvPr descr="image.png" id="109" name="Google Shape;109;p15"/>
          <p:cNvPicPr preferRelativeResize="0"/>
          <p:nvPr/>
        </p:nvPicPr>
        <p:blipFill rotWithShape="1">
          <a:blip r:embed="rId5">
            <a:alphaModFix/>
          </a:blip>
          <a:srcRect b="0" l="0" r="0" t="0"/>
          <a:stretch/>
        </p:blipFill>
        <p:spPr>
          <a:xfrm>
            <a:off x="4448175" y="2813744"/>
            <a:ext cx="571500" cy="571500"/>
          </a:xfrm>
          <a:prstGeom prst="rect">
            <a:avLst/>
          </a:prstGeom>
          <a:noFill/>
          <a:ln>
            <a:noFill/>
          </a:ln>
        </p:spPr>
      </p:pic>
      <p:pic>
        <p:nvPicPr>
          <p:cNvPr descr="image.png" id="110" name="Google Shape;110;p15"/>
          <p:cNvPicPr preferRelativeResize="0"/>
          <p:nvPr/>
        </p:nvPicPr>
        <p:blipFill rotWithShape="1">
          <a:blip r:embed="rId6">
            <a:alphaModFix/>
          </a:blip>
          <a:srcRect b="0" l="0" r="0" t="0"/>
          <a:stretch/>
        </p:blipFill>
        <p:spPr>
          <a:xfrm>
            <a:off x="7172325" y="2691854"/>
            <a:ext cx="571500" cy="571500"/>
          </a:xfrm>
          <a:prstGeom prst="rect">
            <a:avLst/>
          </a:prstGeom>
          <a:noFill/>
          <a:ln>
            <a:noFill/>
          </a:ln>
        </p:spPr>
      </p:pic>
      <p:pic>
        <p:nvPicPr>
          <p:cNvPr descr="image.png" id="111" name="Google Shape;111;p15"/>
          <p:cNvPicPr preferRelativeResize="0"/>
          <p:nvPr/>
        </p:nvPicPr>
        <p:blipFill rotWithShape="1">
          <a:blip r:embed="rId7">
            <a:alphaModFix/>
          </a:blip>
          <a:srcRect b="0" l="0" r="0" t="0"/>
          <a:stretch/>
        </p:blipFill>
        <p:spPr>
          <a:xfrm>
            <a:off x="9896475" y="2813744"/>
            <a:ext cx="571500" cy="571500"/>
          </a:xfrm>
          <a:prstGeom prst="rect">
            <a:avLst/>
          </a:prstGeom>
          <a:noFill/>
          <a:ln>
            <a:noFill/>
          </a:ln>
        </p:spPr>
      </p:pic>
      <p:sp>
        <p:nvSpPr>
          <p:cNvPr id="112" name="Google Shape;112;p15"/>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THE COMPLETE PROCESS FLOW</a:t>
            </a:r>
            <a:endParaRPr/>
          </a:p>
        </p:txBody>
      </p:sp>
      <p:sp>
        <p:nvSpPr>
          <p:cNvPr id="113" name="Google Shape;113;p15"/>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962025" y="3714750"/>
            <a:ext cx="10267950" cy="19050"/>
          </a:xfrm>
          <a:prstGeom prst="roundRect">
            <a:avLst>
              <a:gd fmla="val 16667" name="adj"/>
            </a:avLst>
          </a:prstGeom>
          <a:solidFill>
            <a:srgbClr val="00F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txBox="1"/>
          <p:nvPr/>
        </p:nvSpPr>
        <p:spPr>
          <a:xfrm>
            <a:off x="909637" y="3575744"/>
            <a:ext cx="2200275"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F0055"/>
                </a:solidFill>
                <a:latin typeface="Rajdhani"/>
                <a:ea typeface="Rajdhani"/>
                <a:cs typeface="Rajdhani"/>
                <a:sym typeface="Rajdhani"/>
              </a:rPr>
              <a:t>USER SPEECH</a:t>
            </a:r>
            <a:endParaRPr/>
          </a:p>
        </p:txBody>
      </p:sp>
      <p:sp>
        <p:nvSpPr>
          <p:cNvPr id="116" name="Google Shape;116;p15"/>
          <p:cNvSpPr txBox="1"/>
          <p:nvPr/>
        </p:nvSpPr>
        <p:spPr>
          <a:xfrm>
            <a:off x="962025" y="3994844"/>
            <a:ext cx="209550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CCCCC"/>
                </a:solidFill>
                <a:latin typeface="Titillium Web"/>
                <a:ea typeface="Titillium Web"/>
                <a:cs typeface="Titillium Web"/>
                <a:sym typeface="Titillium Web"/>
              </a:rPr>
              <a:t>User speaks; voice data is captured for processing.</a:t>
            </a:r>
            <a:endParaRPr/>
          </a:p>
        </p:txBody>
      </p:sp>
      <p:sp>
        <p:nvSpPr>
          <p:cNvPr id="117" name="Google Shape;117;p15"/>
          <p:cNvSpPr txBox="1"/>
          <p:nvPr/>
        </p:nvSpPr>
        <p:spPr>
          <a:xfrm>
            <a:off x="3633787" y="3575744"/>
            <a:ext cx="2200275"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F0055"/>
                </a:solidFill>
                <a:latin typeface="Rajdhani"/>
                <a:ea typeface="Rajdhani"/>
                <a:cs typeface="Rajdhani"/>
                <a:sym typeface="Rajdhani"/>
              </a:rPr>
              <a:t>SPEECH-TO-TEXT</a:t>
            </a:r>
            <a:endParaRPr/>
          </a:p>
        </p:txBody>
      </p:sp>
      <p:sp>
        <p:nvSpPr>
          <p:cNvPr id="118" name="Google Shape;118;p15"/>
          <p:cNvSpPr txBox="1"/>
          <p:nvPr/>
        </p:nvSpPr>
        <p:spPr>
          <a:xfrm>
            <a:off x="3686175" y="3994844"/>
            <a:ext cx="209550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CCCCC"/>
                </a:solidFill>
                <a:latin typeface="Titillium Web"/>
                <a:ea typeface="Titillium Web"/>
                <a:cs typeface="Titillium Web"/>
                <a:sym typeface="Titillium Web"/>
              </a:rPr>
              <a:t>Voice data is digitized and converted into text.</a:t>
            </a:r>
            <a:endParaRPr/>
          </a:p>
        </p:txBody>
      </p:sp>
      <p:sp>
        <p:nvSpPr>
          <p:cNvPr id="119" name="Google Shape;119;p15"/>
          <p:cNvSpPr txBox="1"/>
          <p:nvPr/>
        </p:nvSpPr>
        <p:spPr>
          <a:xfrm>
            <a:off x="6357937" y="3453854"/>
            <a:ext cx="2200275"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F0055"/>
                </a:solidFill>
                <a:latin typeface="Rajdhani"/>
                <a:ea typeface="Rajdhani"/>
                <a:cs typeface="Rajdhani"/>
                <a:sym typeface="Rajdhani"/>
              </a:rPr>
              <a:t>AI PROCESSING</a:t>
            </a:r>
            <a:endParaRPr/>
          </a:p>
        </p:txBody>
      </p:sp>
      <p:sp>
        <p:nvSpPr>
          <p:cNvPr id="120" name="Google Shape;120;p15"/>
          <p:cNvSpPr txBox="1"/>
          <p:nvPr/>
        </p:nvSpPr>
        <p:spPr>
          <a:xfrm>
            <a:off x="6410325" y="3872954"/>
            <a:ext cx="2095500"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CCCCC"/>
                </a:solidFill>
                <a:latin typeface="Titillium Web"/>
                <a:ea typeface="Titillium Web"/>
                <a:cs typeface="Titillium Web"/>
                <a:sym typeface="Titillium Web"/>
              </a:rPr>
              <a:t>AI analyzes intent and generates a text response via API.</a:t>
            </a:r>
            <a:endParaRPr/>
          </a:p>
        </p:txBody>
      </p:sp>
      <p:sp>
        <p:nvSpPr>
          <p:cNvPr id="121" name="Google Shape;121;p15"/>
          <p:cNvSpPr txBox="1"/>
          <p:nvPr/>
        </p:nvSpPr>
        <p:spPr>
          <a:xfrm>
            <a:off x="9082087" y="3575744"/>
            <a:ext cx="2200275"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F0055"/>
                </a:solidFill>
                <a:latin typeface="Rajdhani"/>
                <a:ea typeface="Rajdhani"/>
                <a:cs typeface="Rajdhani"/>
                <a:sym typeface="Rajdhani"/>
              </a:rPr>
              <a:t>TEXT-TO-SPEECH</a:t>
            </a:r>
            <a:endParaRPr/>
          </a:p>
        </p:txBody>
      </p:sp>
      <p:sp>
        <p:nvSpPr>
          <p:cNvPr id="122" name="Google Shape;122;p15"/>
          <p:cNvSpPr txBox="1"/>
          <p:nvPr/>
        </p:nvSpPr>
        <p:spPr>
          <a:xfrm>
            <a:off x="9134475" y="3994844"/>
            <a:ext cx="209550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CCCCC"/>
                </a:solidFill>
                <a:latin typeface="Titillium Web"/>
                <a:ea typeface="Titillium Web"/>
                <a:cs typeface="Titillium Web"/>
                <a:sym typeface="Titillium Web"/>
              </a:rPr>
              <a:t>Response is converted back to voice and played.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image.png" id="127" name="Google Shape;12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6"/>
          <p:cNvPicPr preferRelativeResize="0"/>
          <p:nvPr/>
        </p:nvPicPr>
        <p:blipFill rotWithShape="1">
          <a:blip r:embed="rId4">
            <a:alphaModFix/>
          </a:blip>
          <a:srcRect b="0" l="0" r="0" t="0"/>
          <a:stretch/>
        </p:blipFill>
        <p:spPr>
          <a:xfrm>
            <a:off x="581025" y="1552575"/>
            <a:ext cx="2614612" cy="4724400"/>
          </a:xfrm>
          <a:prstGeom prst="rect">
            <a:avLst/>
          </a:prstGeom>
          <a:noFill/>
          <a:ln>
            <a:noFill/>
          </a:ln>
        </p:spPr>
      </p:pic>
      <p:pic>
        <p:nvPicPr>
          <p:cNvPr descr="image.png" id="129" name="Google Shape;129;p16"/>
          <p:cNvPicPr preferRelativeResize="0"/>
          <p:nvPr/>
        </p:nvPicPr>
        <p:blipFill rotWithShape="1">
          <a:blip r:embed="rId4">
            <a:alphaModFix/>
          </a:blip>
          <a:srcRect b="0" l="0" r="0" t="0"/>
          <a:stretch/>
        </p:blipFill>
        <p:spPr>
          <a:xfrm>
            <a:off x="3386137" y="1552575"/>
            <a:ext cx="2614612" cy="4724400"/>
          </a:xfrm>
          <a:prstGeom prst="rect">
            <a:avLst/>
          </a:prstGeom>
          <a:noFill/>
          <a:ln>
            <a:noFill/>
          </a:ln>
        </p:spPr>
      </p:pic>
      <p:pic>
        <p:nvPicPr>
          <p:cNvPr descr="image.png" id="130" name="Google Shape;130;p16"/>
          <p:cNvPicPr preferRelativeResize="0"/>
          <p:nvPr/>
        </p:nvPicPr>
        <p:blipFill rotWithShape="1">
          <a:blip r:embed="rId4">
            <a:alphaModFix/>
          </a:blip>
          <a:srcRect b="0" l="0" r="0" t="0"/>
          <a:stretch/>
        </p:blipFill>
        <p:spPr>
          <a:xfrm>
            <a:off x="6191250" y="1552575"/>
            <a:ext cx="2614612" cy="4724400"/>
          </a:xfrm>
          <a:prstGeom prst="rect">
            <a:avLst/>
          </a:prstGeom>
          <a:noFill/>
          <a:ln>
            <a:noFill/>
          </a:ln>
        </p:spPr>
      </p:pic>
      <p:pic>
        <p:nvPicPr>
          <p:cNvPr descr="image.png" id="131" name="Google Shape;131;p16"/>
          <p:cNvPicPr preferRelativeResize="0"/>
          <p:nvPr/>
        </p:nvPicPr>
        <p:blipFill rotWithShape="1">
          <a:blip r:embed="rId4">
            <a:alphaModFix/>
          </a:blip>
          <a:srcRect b="0" l="0" r="0" t="0"/>
          <a:stretch/>
        </p:blipFill>
        <p:spPr>
          <a:xfrm>
            <a:off x="8996362" y="1552575"/>
            <a:ext cx="2614612" cy="4724400"/>
          </a:xfrm>
          <a:prstGeom prst="rect">
            <a:avLst/>
          </a:prstGeom>
          <a:noFill/>
          <a:ln>
            <a:noFill/>
          </a:ln>
        </p:spPr>
      </p:pic>
      <p:sp>
        <p:nvSpPr>
          <p:cNvPr id="132" name="Google Shape;132;p16"/>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SPEECH TO AUDIO PROCESS ARCHITECTURE</a:t>
            </a:r>
            <a:endParaRPr/>
          </a:p>
        </p:txBody>
      </p:sp>
      <p:sp>
        <p:nvSpPr>
          <p:cNvPr id="133" name="Google Shape;133;p16"/>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725685" y="2619375"/>
            <a:ext cx="2325290"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SPEECH INPUT</a:t>
            </a:r>
            <a:endParaRPr/>
          </a:p>
        </p:txBody>
      </p:sp>
      <p:sp>
        <p:nvSpPr>
          <p:cNvPr id="135" name="Google Shape;135;p16"/>
          <p:cNvSpPr txBox="1"/>
          <p:nvPr/>
        </p:nvSpPr>
        <p:spPr>
          <a:xfrm>
            <a:off x="781050" y="3200400"/>
            <a:ext cx="2214562"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AAAAA"/>
                </a:solidFill>
                <a:latin typeface="Titillium Web"/>
                <a:ea typeface="Titillium Web"/>
                <a:cs typeface="Titillium Web"/>
                <a:sym typeface="Titillium Web"/>
              </a:rPr>
              <a:t>Raw Audio Capture</a:t>
            </a:r>
            <a:endParaRPr/>
          </a:p>
        </p:txBody>
      </p:sp>
      <p:sp>
        <p:nvSpPr>
          <p:cNvPr id="136" name="Google Shape;136;p16"/>
          <p:cNvSpPr txBox="1"/>
          <p:nvPr/>
        </p:nvSpPr>
        <p:spPr>
          <a:xfrm>
            <a:off x="3530798" y="2619375"/>
            <a:ext cx="2325290"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STT / ASR</a:t>
            </a:r>
            <a:endParaRPr/>
          </a:p>
        </p:txBody>
      </p:sp>
      <p:sp>
        <p:nvSpPr>
          <p:cNvPr id="137" name="Google Shape;137;p16"/>
          <p:cNvSpPr txBox="1"/>
          <p:nvPr/>
        </p:nvSpPr>
        <p:spPr>
          <a:xfrm>
            <a:off x="6335910" y="2619375"/>
            <a:ext cx="2325290"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NLP / LLM</a:t>
            </a:r>
            <a:endParaRPr/>
          </a:p>
        </p:txBody>
      </p:sp>
      <p:sp>
        <p:nvSpPr>
          <p:cNvPr id="138" name="Google Shape;138;p16"/>
          <p:cNvSpPr txBox="1"/>
          <p:nvPr/>
        </p:nvSpPr>
        <p:spPr>
          <a:xfrm>
            <a:off x="9141023" y="2619375"/>
            <a:ext cx="2325290"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TTS OUTPUT</a:t>
            </a:r>
            <a:endParaRPr/>
          </a:p>
        </p:txBody>
      </p:sp>
      <p:pic>
        <p:nvPicPr>
          <p:cNvPr descr="image.png" id="139" name="Google Shape;139;p16"/>
          <p:cNvPicPr preferRelativeResize="0"/>
          <p:nvPr/>
        </p:nvPicPr>
        <p:blipFill rotWithShape="1">
          <a:blip r:embed="rId5">
            <a:alphaModFix/>
          </a:blip>
          <a:srcRect b="0" l="0" r="0" t="0"/>
          <a:stretch/>
        </p:blipFill>
        <p:spPr>
          <a:xfrm>
            <a:off x="1745456" y="1943100"/>
            <a:ext cx="285750" cy="381000"/>
          </a:xfrm>
          <a:prstGeom prst="rect">
            <a:avLst/>
          </a:prstGeom>
          <a:noFill/>
          <a:ln>
            <a:noFill/>
          </a:ln>
        </p:spPr>
      </p:pic>
      <p:pic>
        <p:nvPicPr>
          <p:cNvPr descr="image.png" id="140" name="Google Shape;140;p16"/>
          <p:cNvPicPr preferRelativeResize="0"/>
          <p:nvPr/>
        </p:nvPicPr>
        <p:blipFill rotWithShape="1">
          <a:blip r:embed="rId6">
            <a:alphaModFix/>
          </a:blip>
          <a:srcRect b="0" l="0" r="0" t="0"/>
          <a:stretch/>
        </p:blipFill>
        <p:spPr>
          <a:xfrm>
            <a:off x="4550568" y="1943100"/>
            <a:ext cx="285750" cy="381000"/>
          </a:xfrm>
          <a:prstGeom prst="rect">
            <a:avLst/>
          </a:prstGeom>
          <a:noFill/>
          <a:ln>
            <a:noFill/>
          </a:ln>
        </p:spPr>
      </p:pic>
      <p:sp>
        <p:nvSpPr>
          <p:cNvPr id="141" name="Google Shape;141;p16"/>
          <p:cNvSpPr txBox="1"/>
          <p:nvPr/>
        </p:nvSpPr>
        <p:spPr>
          <a:xfrm>
            <a:off x="3776662" y="3200400"/>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Acoustic Models</a:t>
            </a:r>
            <a:endParaRPr/>
          </a:p>
        </p:txBody>
      </p:sp>
      <p:sp>
        <p:nvSpPr>
          <p:cNvPr id="142" name="Google Shape;142;p16"/>
          <p:cNvSpPr txBox="1"/>
          <p:nvPr/>
        </p:nvSpPr>
        <p:spPr>
          <a:xfrm>
            <a:off x="3776662" y="3552825"/>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Language Models</a:t>
            </a:r>
            <a:endParaRPr/>
          </a:p>
        </p:txBody>
      </p:sp>
      <p:sp>
        <p:nvSpPr>
          <p:cNvPr id="143" name="Google Shape;143;p16"/>
          <p:cNvSpPr txBox="1"/>
          <p:nvPr/>
        </p:nvSpPr>
        <p:spPr>
          <a:xfrm>
            <a:off x="3776662" y="3905250"/>
            <a:ext cx="2024062"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End-to-End Transformers</a:t>
            </a:r>
            <a:endParaRPr/>
          </a:p>
        </p:txBody>
      </p:sp>
      <p:pic>
        <p:nvPicPr>
          <p:cNvPr descr="image.png" id="144" name="Google Shape;144;p16"/>
          <p:cNvPicPr preferRelativeResize="0"/>
          <p:nvPr/>
        </p:nvPicPr>
        <p:blipFill rotWithShape="1">
          <a:blip r:embed="rId7">
            <a:alphaModFix/>
          </a:blip>
          <a:srcRect b="0" l="0" r="0" t="0"/>
          <a:stretch/>
        </p:blipFill>
        <p:spPr>
          <a:xfrm>
            <a:off x="7308056" y="1943100"/>
            <a:ext cx="381000" cy="381000"/>
          </a:xfrm>
          <a:prstGeom prst="rect">
            <a:avLst/>
          </a:prstGeom>
          <a:noFill/>
          <a:ln>
            <a:noFill/>
          </a:ln>
        </p:spPr>
      </p:pic>
      <p:sp>
        <p:nvSpPr>
          <p:cNvPr id="145" name="Google Shape;145;p16"/>
          <p:cNvSpPr txBox="1"/>
          <p:nvPr/>
        </p:nvSpPr>
        <p:spPr>
          <a:xfrm>
            <a:off x="6581775" y="3200400"/>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NLU (Intent Extraction)</a:t>
            </a:r>
            <a:endParaRPr/>
          </a:p>
        </p:txBody>
      </p:sp>
      <p:sp>
        <p:nvSpPr>
          <p:cNvPr id="146" name="Google Shape;146;p16"/>
          <p:cNvSpPr txBox="1"/>
          <p:nvPr/>
        </p:nvSpPr>
        <p:spPr>
          <a:xfrm>
            <a:off x="6581775" y="3552825"/>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NLG (Response Gen)</a:t>
            </a:r>
            <a:endParaRPr/>
          </a:p>
        </p:txBody>
      </p:sp>
      <p:sp>
        <p:nvSpPr>
          <p:cNvPr id="147" name="Google Shape;147;p16"/>
          <p:cNvSpPr txBox="1"/>
          <p:nvPr/>
        </p:nvSpPr>
        <p:spPr>
          <a:xfrm>
            <a:off x="6581775" y="3905250"/>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GPT-4, Gemini, LLAMA</a:t>
            </a:r>
            <a:endParaRPr/>
          </a:p>
        </p:txBody>
      </p:sp>
      <p:pic>
        <p:nvPicPr>
          <p:cNvPr descr="image.png" id="148" name="Google Shape;148;p16"/>
          <p:cNvPicPr preferRelativeResize="0"/>
          <p:nvPr/>
        </p:nvPicPr>
        <p:blipFill rotWithShape="1">
          <a:blip r:embed="rId8">
            <a:alphaModFix/>
          </a:blip>
          <a:srcRect b="0" l="0" r="0" t="0"/>
          <a:stretch/>
        </p:blipFill>
        <p:spPr>
          <a:xfrm>
            <a:off x="10065543" y="1943100"/>
            <a:ext cx="476250" cy="381000"/>
          </a:xfrm>
          <a:prstGeom prst="rect">
            <a:avLst/>
          </a:prstGeom>
          <a:noFill/>
          <a:ln>
            <a:noFill/>
          </a:ln>
        </p:spPr>
      </p:pic>
      <p:sp>
        <p:nvSpPr>
          <p:cNvPr id="149" name="Google Shape;149;p16"/>
          <p:cNvSpPr txBox="1"/>
          <p:nvPr/>
        </p:nvSpPr>
        <p:spPr>
          <a:xfrm>
            <a:off x="9386887" y="3200400"/>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Text Normalization</a:t>
            </a:r>
            <a:endParaRPr/>
          </a:p>
        </p:txBody>
      </p:sp>
      <p:sp>
        <p:nvSpPr>
          <p:cNvPr id="150" name="Google Shape;150;p16"/>
          <p:cNvSpPr txBox="1"/>
          <p:nvPr/>
        </p:nvSpPr>
        <p:spPr>
          <a:xfrm>
            <a:off x="9386887" y="3552825"/>
            <a:ext cx="2024062"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Phoneme Mapping</a:t>
            </a:r>
            <a:endParaRPr/>
          </a:p>
        </p:txBody>
      </p:sp>
      <p:sp>
        <p:nvSpPr>
          <p:cNvPr id="151" name="Google Shape;151;p16"/>
          <p:cNvSpPr txBox="1"/>
          <p:nvPr/>
        </p:nvSpPr>
        <p:spPr>
          <a:xfrm>
            <a:off x="9386887" y="3905250"/>
            <a:ext cx="2024062"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F0055"/>
                </a:solidFill>
                <a:latin typeface="Titillium Web"/>
                <a:ea typeface="Titillium Web"/>
                <a:cs typeface="Titillium Web"/>
                <a:sym typeface="Titillium Web"/>
              </a:rPr>
              <a:t>• </a:t>
            </a:r>
            <a:r>
              <a:rPr b="0" i="0" lang="en-US" sz="1500" u="none" cap="none" strike="noStrike">
                <a:solidFill>
                  <a:srgbClr val="E0E0E0"/>
                </a:solidFill>
                <a:latin typeface="Titillium Web"/>
                <a:ea typeface="Titillium Web"/>
                <a:cs typeface="Titillium Web"/>
                <a:sym typeface="Titillium Web"/>
              </a:rPr>
              <a:t>Prosody &amp; Vocoder (VITS)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image.png" id="156" name="Google Shape;15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7"/>
          <p:cNvPicPr preferRelativeResize="0"/>
          <p:nvPr/>
        </p:nvPicPr>
        <p:blipFill rotWithShape="1">
          <a:blip r:embed="rId4">
            <a:alphaModFix/>
          </a:blip>
          <a:srcRect b="0" l="0" r="0" t="0"/>
          <a:stretch/>
        </p:blipFill>
        <p:spPr>
          <a:xfrm>
            <a:off x="723900" y="1938337"/>
            <a:ext cx="3390900" cy="3952875"/>
          </a:xfrm>
          <a:prstGeom prst="rect">
            <a:avLst/>
          </a:prstGeom>
          <a:noFill/>
          <a:ln>
            <a:noFill/>
          </a:ln>
        </p:spPr>
      </p:pic>
      <p:pic>
        <p:nvPicPr>
          <p:cNvPr descr="image.png" id="158" name="Google Shape;158;p17"/>
          <p:cNvPicPr preferRelativeResize="0"/>
          <p:nvPr/>
        </p:nvPicPr>
        <p:blipFill rotWithShape="1">
          <a:blip r:embed="rId5">
            <a:alphaModFix/>
          </a:blip>
          <a:srcRect b="0" l="0" r="0" t="0"/>
          <a:stretch/>
        </p:blipFill>
        <p:spPr>
          <a:xfrm>
            <a:off x="4400550" y="1938337"/>
            <a:ext cx="3390900" cy="3952875"/>
          </a:xfrm>
          <a:prstGeom prst="rect">
            <a:avLst/>
          </a:prstGeom>
          <a:noFill/>
          <a:ln>
            <a:noFill/>
          </a:ln>
        </p:spPr>
      </p:pic>
      <p:pic>
        <p:nvPicPr>
          <p:cNvPr descr="image.png" id="159" name="Google Shape;159;p17"/>
          <p:cNvPicPr preferRelativeResize="0"/>
          <p:nvPr/>
        </p:nvPicPr>
        <p:blipFill rotWithShape="1">
          <a:blip r:embed="rId6">
            <a:alphaModFix/>
          </a:blip>
          <a:srcRect b="0" l="0" r="0" t="0"/>
          <a:stretch/>
        </p:blipFill>
        <p:spPr>
          <a:xfrm>
            <a:off x="8077200" y="1938337"/>
            <a:ext cx="3390900" cy="3952875"/>
          </a:xfrm>
          <a:prstGeom prst="rect">
            <a:avLst/>
          </a:prstGeom>
          <a:noFill/>
          <a:ln>
            <a:noFill/>
          </a:ln>
        </p:spPr>
      </p:pic>
      <p:sp>
        <p:nvSpPr>
          <p:cNvPr id="160" name="Google Shape;160;p17"/>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LITERATURE REVIEW</a:t>
            </a:r>
            <a:endParaRPr/>
          </a:p>
        </p:txBody>
      </p:sp>
      <p:sp>
        <p:nvSpPr>
          <p:cNvPr id="161" name="Google Shape;161;p17"/>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7"/>
          <p:cNvSpPr txBox="1"/>
          <p:nvPr/>
        </p:nvSpPr>
        <p:spPr>
          <a:xfrm>
            <a:off x="909161" y="2195512"/>
            <a:ext cx="3020377"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4" u="none" cap="none" strike="noStrike">
                <a:solidFill>
                  <a:srgbClr val="FF0055"/>
                </a:solidFill>
                <a:latin typeface="Rajdhani"/>
                <a:ea typeface="Rajdhani"/>
                <a:cs typeface="Rajdhani"/>
                <a:sym typeface="Rajdhani"/>
              </a:rPr>
              <a:t>1. SPEECH-TO-TEXT (STT)</a:t>
            </a:r>
            <a:endParaRPr/>
          </a:p>
        </p:txBody>
      </p:sp>
      <p:sp>
        <p:nvSpPr>
          <p:cNvPr id="163" name="Google Shape;163;p17"/>
          <p:cNvSpPr/>
          <p:nvPr/>
        </p:nvSpPr>
        <p:spPr>
          <a:xfrm>
            <a:off x="981075" y="2509837"/>
            <a:ext cx="28765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7"/>
          <p:cNvSpPr txBox="1"/>
          <p:nvPr/>
        </p:nvSpPr>
        <p:spPr>
          <a:xfrm>
            <a:off x="981075" y="28527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Evolution:</a:t>
            </a:r>
            <a:r>
              <a:rPr b="0" i="0" lang="en-US" sz="1500" u="none" cap="none" strike="noStrike">
                <a:solidFill>
                  <a:srgbClr val="E0E0E0"/>
                </a:solidFill>
                <a:latin typeface="Titillium Web"/>
                <a:ea typeface="Titillium Web"/>
                <a:cs typeface="Titillium Web"/>
                <a:sym typeface="Titillium Web"/>
              </a:rPr>
              <a:t> Shift to End-to-End Neural Architectures (CTC, RNN-T).</a:t>
            </a:r>
            <a:endParaRPr/>
          </a:p>
        </p:txBody>
      </p:sp>
      <p:sp>
        <p:nvSpPr>
          <p:cNvPr id="165" name="Google Shape;165;p17"/>
          <p:cNvSpPr txBox="1"/>
          <p:nvPr/>
        </p:nvSpPr>
        <p:spPr>
          <a:xfrm>
            <a:off x="981075" y="38433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Key Tech:</a:t>
            </a:r>
            <a:r>
              <a:rPr b="0" i="0" lang="en-US" sz="1500" u="none" cap="none" strike="noStrike">
                <a:solidFill>
                  <a:srgbClr val="E0E0E0"/>
                </a:solidFill>
                <a:latin typeface="Titillium Web"/>
                <a:ea typeface="Titillium Web"/>
                <a:cs typeface="Titillium Web"/>
                <a:sym typeface="Titillium Web"/>
              </a:rPr>
              <a:t> Transformers + Massive Language Models.</a:t>
            </a:r>
            <a:endParaRPr/>
          </a:p>
        </p:txBody>
      </p:sp>
      <p:sp>
        <p:nvSpPr>
          <p:cNvPr id="166" name="Google Shape;166;p17"/>
          <p:cNvSpPr txBox="1"/>
          <p:nvPr/>
        </p:nvSpPr>
        <p:spPr>
          <a:xfrm>
            <a:off x="981075" y="48339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Challenge:</a:t>
            </a:r>
            <a:r>
              <a:rPr b="0" i="0" lang="en-US" sz="1500" u="none" cap="none" strike="noStrike">
                <a:solidFill>
                  <a:srgbClr val="E0E0E0"/>
                </a:solidFill>
                <a:latin typeface="Titillium Web"/>
                <a:ea typeface="Titillium Web"/>
                <a:cs typeface="Titillium Web"/>
                <a:sym typeface="Titillium Web"/>
              </a:rPr>
              <a:t> Handling accent variability &amp; real-time latency.</a:t>
            </a:r>
            <a:endParaRPr/>
          </a:p>
        </p:txBody>
      </p:sp>
      <p:sp>
        <p:nvSpPr>
          <p:cNvPr id="167" name="Google Shape;167;p17"/>
          <p:cNvSpPr txBox="1"/>
          <p:nvPr/>
        </p:nvSpPr>
        <p:spPr>
          <a:xfrm>
            <a:off x="4585811" y="2195512"/>
            <a:ext cx="3020377"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4" u="none" cap="none" strike="noStrike">
                <a:solidFill>
                  <a:srgbClr val="FF0055"/>
                </a:solidFill>
                <a:latin typeface="Rajdhani"/>
                <a:ea typeface="Rajdhani"/>
                <a:cs typeface="Rajdhani"/>
                <a:sym typeface="Rajdhani"/>
              </a:rPr>
              <a:t>2. NLP / LLMS</a:t>
            </a:r>
            <a:endParaRPr/>
          </a:p>
        </p:txBody>
      </p:sp>
      <p:sp>
        <p:nvSpPr>
          <p:cNvPr id="168" name="Google Shape;168;p17"/>
          <p:cNvSpPr/>
          <p:nvPr/>
        </p:nvSpPr>
        <p:spPr>
          <a:xfrm>
            <a:off x="4657725" y="2509837"/>
            <a:ext cx="28765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7"/>
          <p:cNvSpPr txBox="1"/>
          <p:nvPr/>
        </p:nvSpPr>
        <p:spPr>
          <a:xfrm>
            <a:off x="4657725" y="28527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Evolution:</a:t>
            </a:r>
            <a:r>
              <a:rPr b="0" i="0" lang="en-US" sz="1500" u="none" cap="none" strike="noStrike">
                <a:solidFill>
                  <a:srgbClr val="E0E0E0"/>
                </a:solidFill>
                <a:latin typeface="Titillium Web"/>
                <a:ea typeface="Titillium Web"/>
                <a:cs typeface="Titillium Web"/>
                <a:sym typeface="Titillium Web"/>
              </a:rPr>
              <a:t> Rule-based systems → Generative AI.</a:t>
            </a:r>
            <a:endParaRPr/>
          </a:p>
        </p:txBody>
      </p:sp>
      <p:sp>
        <p:nvSpPr>
          <p:cNvPr id="170" name="Google Shape;170;p17"/>
          <p:cNvSpPr txBox="1"/>
          <p:nvPr/>
        </p:nvSpPr>
        <p:spPr>
          <a:xfrm>
            <a:off x="4657725" y="38433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Key Tech:</a:t>
            </a:r>
            <a:r>
              <a:rPr b="0" i="0" lang="en-US" sz="1500" u="none" cap="none" strike="noStrike">
                <a:solidFill>
                  <a:srgbClr val="E0E0E0"/>
                </a:solidFill>
                <a:latin typeface="Titillium Web"/>
                <a:ea typeface="Titillium Web"/>
                <a:cs typeface="Titillium Web"/>
                <a:sym typeface="Titillium Web"/>
              </a:rPr>
              <a:t> GPT-4, Gemini (Context Awareness).</a:t>
            </a:r>
            <a:endParaRPr/>
          </a:p>
        </p:txBody>
      </p:sp>
      <p:sp>
        <p:nvSpPr>
          <p:cNvPr id="171" name="Google Shape;171;p17"/>
          <p:cNvSpPr txBox="1"/>
          <p:nvPr/>
        </p:nvSpPr>
        <p:spPr>
          <a:xfrm>
            <a:off x="4657725" y="48339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Capability:</a:t>
            </a:r>
            <a:r>
              <a:rPr b="0" i="0" lang="en-US" sz="1500" u="none" cap="none" strike="noStrike">
                <a:solidFill>
                  <a:srgbClr val="E0E0E0"/>
                </a:solidFill>
                <a:latin typeface="Titillium Web"/>
                <a:ea typeface="Titillium Web"/>
                <a:cs typeface="Titillium Web"/>
                <a:sym typeface="Titillium Web"/>
              </a:rPr>
              <a:t> Intent recognition &amp; sentiment analysis.</a:t>
            </a:r>
            <a:endParaRPr/>
          </a:p>
        </p:txBody>
      </p:sp>
      <p:sp>
        <p:nvSpPr>
          <p:cNvPr id="172" name="Google Shape;172;p17"/>
          <p:cNvSpPr txBox="1"/>
          <p:nvPr/>
        </p:nvSpPr>
        <p:spPr>
          <a:xfrm>
            <a:off x="8262461" y="2195512"/>
            <a:ext cx="3020377"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4" u="none" cap="none" strike="noStrike">
                <a:solidFill>
                  <a:srgbClr val="FF0055"/>
                </a:solidFill>
                <a:latin typeface="Rajdhani"/>
                <a:ea typeface="Rajdhani"/>
                <a:cs typeface="Rajdhani"/>
                <a:sym typeface="Rajdhani"/>
              </a:rPr>
              <a:t>3. TEXT-TO-SPEECH (TTS)</a:t>
            </a:r>
            <a:endParaRPr/>
          </a:p>
        </p:txBody>
      </p:sp>
      <p:sp>
        <p:nvSpPr>
          <p:cNvPr id="173" name="Google Shape;173;p17"/>
          <p:cNvSpPr/>
          <p:nvPr/>
        </p:nvSpPr>
        <p:spPr>
          <a:xfrm>
            <a:off x="8334375" y="2509837"/>
            <a:ext cx="28765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7"/>
          <p:cNvSpPr txBox="1"/>
          <p:nvPr/>
        </p:nvSpPr>
        <p:spPr>
          <a:xfrm>
            <a:off x="8334375" y="28527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Evolution:</a:t>
            </a:r>
            <a:r>
              <a:rPr b="0" i="0" lang="en-US" sz="1500" u="none" cap="none" strike="noStrike">
                <a:solidFill>
                  <a:srgbClr val="E0E0E0"/>
                </a:solidFill>
                <a:latin typeface="Titillium Web"/>
                <a:ea typeface="Titillium Web"/>
                <a:cs typeface="Titillium Web"/>
                <a:sym typeface="Titillium Web"/>
              </a:rPr>
              <a:t> Concatenative → Neural TTS (VITS).</a:t>
            </a:r>
            <a:endParaRPr/>
          </a:p>
        </p:txBody>
      </p:sp>
      <p:sp>
        <p:nvSpPr>
          <p:cNvPr id="175" name="Google Shape;175;p17"/>
          <p:cNvSpPr txBox="1"/>
          <p:nvPr/>
        </p:nvSpPr>
        <p:spPr>
          <a:xfrm>
            <a:off x="8334375" y="38433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Key Tech:</a:t>
            </a:r>
            <a:r>
              <a:rPr b="0" i="0" lang="en-US" sz="1500" u="none" cap="none" strike="noStrike">
                <a:solidFill>
                  <a:srgbClr val="E0E0E0"/>
                </a:solidFill>
                <a:latin typeface="Titillium Web"/>
                <a:ea typeface="Titillium Web"/>
                <a:cs typeface="Titillium Web"/>
                <a:sym typeface="Titillium Web"/>
              </a:rPr>
              <a:t> Prosody Modeling for emotion.</a:t>
            </a:r>
            <a:endParaRPr/>
          </a:p>
        </p:txBody>
      </p:sp>
      <p:sp>
        <p:nvSpPr>
          <p:cNvPr id="176" name="Google Shape;176;p17"/>
          <p:cNvSpPr txBox="1"/>
          <p:nvPr/>
        </p:nvSpPr>
        <p:spPr>
          <a:xfrm>
            <a:off x="8334375" y="4833937"/>
            <a:ext cx="28765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0E0E0"/>
                </a:solidFill>
                <a:latin typeface="Titillium Web"/>
                <a:ea typeface="Titillium Web"/>
                <a:cs typeface="Titillium Web"/>
                <a:sym typeface="Titillium Web"/>
              </a:rPr>
              <a:t>Metric:</a:t>
            </a:r>
            <a:r>
              <a:rPr b="0" i="0" lang="en-US" sz="1500" u="none" cap="none" strike="noStrike">
                <a:solidFill>
                  <a:srgbClr val="E0E0E0"/>
                </a:solidFill>
                <a:latin typeface="Titillium Web"/>
                <a:ea typeface="Titillium Web"/>
                <a:cs typeface="Titillium Web"/>
                <a:sym typeface="Titillium Web"/>
              </a:rPr>
              <a:t> MOS (Mean Opinion Score) for naturalness.</a:t>
            </a:r>
            <a:endParaRPr/>
          </a:p>
        </p:txBody>
      </p:sp>
      <p:pic>
        <p:nvPicPr>
          <p:cNvPr descr="image.png" id="177" name="Google Shape;177;p17"/>
          <p:cNvPicPr preferRelativeResize="0"/>
          <p:nvPr/>
        </p:nvPicPr>
        <p:blipFill rotWithShape="1">
          <a:blip r:embed="rId7">
            <a:alphaModFix/>
          </a:blip>
          <a:srcRect b="0" l="0" r="0" t="0"/>
          <a:stretch/>
        </p:blipFill>
        <p:spPr>
          <a:xfrm>
            <a:off x="4257675" y="3800475"/>
            <a:ext cx="142875" cy="228600"/>
          </a:xfrm>
          <a:prstGeom prst="rect">
            <a:avLst/>
          </a:prstGeom>
          <a:noFill/>
          <a:ln>
            <a:noFill/>
          </a:ln>
        </p:spPr>
      </p:pic>
      <p:pic>
        <p:nvPicPr>
          <p:cNvPr descr="image.png" id="178" name="Google Shape;178;p17"/>
          <p:cNvPicPr preferRelativeResize="0"/>
          <p:nvPr/>
        </p:nvPicPr>
        <p:blipFill rotWithShape="1">
          <a:blip r:embed="rId7">
            <a:alphaModFix/>
          </a:blip>
          <a:srcRect b="0" l="0" r="0" t="0"/>
          <a:stretch/>
        </p:blipFill>
        <p:spPr>
          <a:xfrm>
            <a:off x="7934325" y="3800475"/>
            <a:ext cx="142875" cy="228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image.png" id="183" name="Google Shape;18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4" name="Google Shape;184;p18"/>
          <p:cNvPicPr preferRelativeResize="0"/>
          <p:nvPr/>
        </p:nvPicPr>
        <p:blipFill rotWithShape="1">
          <a:blip r:embed="rId4">
            <a:alphaModFix/>
          </a:blip>
          <a:srcRect b="0" l="0" r="0" t="0"/>
          <a:stretch/>
        </p:blipFill>
        <p:spPr>
          <a:xfrm>
            <a:off x="6334125" y="2009775"/>
            <a:ext cx="5276850" cy="3810000"/>
          </a:xfrm>
          <a:prstGeom prst="rect">
            <a:avLst/>
          </a:prstGeom>
          <a:noFill/>
          <a:ln>
            <a:noFill/>
          </a:ln>
        </p:spPr>
      </p:pic>
      <p:sp>
        <p:nvSpPr>
          <p:cNvPr id="185" name="Google Shape;185;p18"/>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CAPTURING SPEECH INPUT: SOUND TO SIGNAL</a:t>
            </a:r>
            <a:endParaRPr/>
          </a:p>
        </p:txBody>
      </p:sp>
      <p:sp>
        <p:nvSpPr>
          <p:cNvPr id="186" name="Google Shape;186;p18"/>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7" name="Google Shape;187;p18"/>
          <p:cNvPicPr preferRelativeResize="0"/>
          <p:nvPr/>
        </p:nvPicPr>
        <p:blipFill rotWithShape="1">
          <a:blip r:embed="rId5">
            <a:alphaModFix/>
          </a:blip>
          <a:srcRect b="0" l="0" r="0" t="0"/>
          <a:stretch/>
        </p:blipFill>
        <p:spPr>
          <a:xfrm>
            <a:off x="6343650" y="2019300"/>
            <a:ext cx="5257800" cy="3790950"/>
          </a:xfrm>
          <a:prstGeom prst="rect">
            <a:avLst/>
          </a:prstGeom>
          <a:noFill/>
          <a:ln>
            <a:noFill/>
          </a:ln>
        </p:spPr>
      </p:pic>
      <p:sp>
        <p:nvSpPr>
          <p:cNvPr id="188" name="Google Shape;188;p18"/>
          <p:cNvSpPr txBox="1"/>
          <p:nvPr/>
        </p:nvSpPr>
        <p:spPr>
          <a:xfrm>
            <a:off x="866775" y="2101750"/>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E0E0E0"/>
                </a:solidFill>
                <a:latin typeface="Titillium Web"/>
                <a:ea typeface="Titillium Web"/>
                <a:cs typeface="Titillium Web"/>
                <a:sym typeface="Titillium Web"/>
              </a:rPr>
              <a:t>1. Audio Capture:</a:t>
            </a:r>
            <a:r>
              <a:rPr b="0" i="0" lang="en-US" sz="1650" u="none" cap="none" strike="noStrike">
                <a:solidFill>
                  <a:srgbClr val="E0E0E0"/>
                </a:solidFill>
                <a:latin typeface="Titillium Web"/>
                <a:ea typeface="Titillium Web"/>
                <a:cs typeface="Titillium Web"/>
                <a:sym typeface="Titillium Web"/>
              </a:rPr>
              <a:t> Microphone captures analog voice input.</a:t>
            </a:r>
            <a:endParaRPr/>
          </a:p>
        </p:txBody>
      </p:sp>
      <p:sp>
        <p:nvSpPr>
          <p:cNvPr id="189" name="Google Shape;189;p18"/>
          <p:cNvSpPr txBox="1"/>
          <p:nvPr/>
        </p:nvSpPr>
        <p:spPr>
          <a:xfrm>
            <a:off x="866775" y="2962572"/>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E0E0E0"/>
                </a:solidFill>
                <a:latin typeface="Titillium Web"/>
                <a:ea typeface="Titillium Web"/>
                <a:cs typeface="Titillium Web"/>
                <a:sym typeface="Titillium Web"/>
              </a:rPr>
              <a:t>2. Signal Digitization:</a:t>
            </a:r>
            <a:r>
              <a:rPr b="0" i="0" lang="en-US" sz="1650" u="none" cap="none" strike="noStrike">
                <a:solidFill>
                  <a:srgbClr val="E0E0E0"/>
                </a:solidFill>
                <a:latin typeface="Titillium Web"/>
                <a:ea typeface="Titillium Web"/>
                <a:cs typeface="Titillium Web"/>
                <a:sym typeface="Titillium Web"/>
              </a:rPr>
              <a:t> Analog-to-Digital Converter (ADC) creates processable binary data.</a:t>
            </a:r>
            <a:endParaRPr/>
          </a:p>
        </p:txBody>
      </p:sp>
      <p:sp>
        <p:nvSpPr>
          <p:cNvPr id="190" name="Google Shape;190;p18"/>
          <p:cNvSpPr txBox="1"/>
          <p:nvPr/>
        </p:nvSpPr>
        <p:spPr>
          <a:xfrm>
            <a:off x="866775" y="3823394"/>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E0E0E0"/>
                </a:solidFill>
                <a:latin typeface="Titillium Web"/>
                <a:ea typeface="Titillium Web"/>
                <a:cs typeface="Titillium Web"/>
                <a:sym typeface="Titillium Web"/>
              </a:rPr>
              <a:t>3. Signal Cleaning:</a:t>
            </a:r>
            <a:r>
              <a:rPr b="0" i="0" lang="en-US" sz="1650" u="none" cap="none" strike="noStrike">
                <a:solidFill>
                  <a:srgbClr val="E0E0E0"/>
                </a:solidFill>
                <a:latin typeface="Titillium Web"/>
                <a:ea typeface="Titillium Web"/>
                <a:cs typeface="Titillium Web"/>
                <a:sym typeface="Titillium Web"/>
              </a:rPr>
              <a:t> Noise reduction algorithms filter background audio to isolate the voice.</a:t>
            </a:r>
            <a:endParaRPr/>
          </a:p>
        </p:txBody>
      </p:sp>
      <p:sp>
        <p:nvSpPr>
          <p:cNvPr id="191" name="Google Shape;191;p18"/>
          <p:cNvSpPr txBox="1"/>
          <p:nvPr/>
        </p:nvSpPr>
        <p:spPr>
          <a:xfrm>
            <a:off x="866775" y="4684216"/>
            <a:ext cx="499110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E0E0E0"/>
                </a:solidFill>
                <a:latin typeface="Titillium Web"/>
                <a:ea typeface="Titillium Web"/>
                <a:cs typeface="Titillium Web"/>
                <a:sym typeface="Titillium Web"/>
              </a:rPr>
              <a:t>4. Wake Word Activation:</a:t>
            </a:r>
            <a:r>
              <a:rPr b="0" i="0" lang="en-US" sz="1650" u="none" cap="none" strike="noStrike">
                <a:solidFill>
                  <a:srgbClr val="E0E0E0"/>
                </a:solidFill>
                <a:latin typeface="Titillium Web"/>
                <a:ea typeface="Titillium Web"/>
                <a:cs typeface="Titillium Web"/>
                <a:sym typeface="Titillium Web"/>
              </a:rPr>
              <a:t> Low-power monitoring for keywords (e.g., "Hey Assistant") triggers the main pipeline.</a:t>
            </a:r>
            <a:endParaRPr/>
          </a:p>
        </p:txBody>
      </p:sp>
      <p:pic>
        <p:nvPicPr>
          <p:cNvPr descr="image.png" id="192" name="Google Shape;192;p18"/>
          <p:cNvPicPr preferRelativeResize="0"/>
          <p:nvPr/>
        </p:nvPicPr>
        <p:blipFill rotWithShape="1">
          <a:blip r:embed="rId6">
            <a:alphaModFix/>
          </a:blip>
          <a:srcRect b="0" l="0" r="0" t="0"/>
          <a:stretch/>
        </p:blipFill>
        <p:spPr>
          <a:xfrm>
            <a:off x="581025" y="2101750"/>
            <a:ext cx="133350" cy="219075"/>
          </a:xfrm>
          <a:prstGeom prst="rect">
            <a:avLst/>
          </a:prstGeom>
          <a:noFill/>
          <a:ln>
            <a:noFill/>
          </a:ln>
        </p:spPr>
      </p:pic>
      <p:pic>
        <p:nvPicPr>
          <p:cNvPr descr="image.png" id="193" name="Google Shape;193;p18"/>
          <p:cNvPicPr preferRelativeResize="0"/>
          <p:nvPr/>
        </p:nvPicPr>
        <p:blipFill rotWithShape="1">
          <a:blip r:embed="rId6">
            <a:alphaModFix/>
          </a:blip>
          <a:srcRect b="0" l="0" r="0" t="0"/>
          <a:stretch/>
        </p:blipFill>
        <p:spPr>
          <a:xfrm>
            <a:off x="581025" y="2962572"/>
            <a:ext cx="133350" cy="219075"/>
          </a:xfrm>
          <a:prstGeom prst="rect">
            <a:avLst/>
          </a:prstGeom>
          <a:noFill/>
          <a:ln>
            <a:noFill/>
          </a:ln>
        </p:spPr>
      </p:pic>
      <p:pic>
        <p:nvPicPr>
          <p:cNvPr descr="image.png" id="194" name="Google Shape;194;p18"/>
          <p:cNvPicPr preferRelativeResize="0"/>
          <p:nvPr/>
        </p:nvPicPr>
        <p:blipFill rotWithShape="1">
          <a:blip r:embed="rId6">
            <a:alphaModFix/>
          </a:blip>
          <a:srcRect b="0" l="0" r="0" t="0"/>
          <a:stretch/>
        </p:blipFill>
        <p:spPr>
          <a:xfrm>
            <a:off x="581025" y="3823394"/>
            <a:ext cx="133350" cy="219075"/>
          </a:xfrm>
          <a:prstGeom prst="rect">
            <a:avLst/>
          </a:prstGeom>
          <a:noFill/>
          <a:ln>
            <a:noFill/>
          </a:ln>
        </p:spPr>
      </p:pic>
      <p:pic>
        <p:nvPicPr>
          <p:cNvPr descr="image.png" id="195" name="Google Shape;195;p18"/>
          <p:cNvPicPr preferRelativeResize="0"/>
          <p:nvPr/>
        </p:nvPicPr>
        <p:blipFill rotWithShape="1">
          <a:blip r:embed="rId6">
            <a:alphaModFix/>
          </a:blip>
          <a:srcRect b="0" l="0" r="0" t="0"/>
          <a:stretch/>
        </p:blipFill>
        <p:spPr>
          <a:xfrm>
            <a:off x="581025" y="4684216"/>
            <a:ext cx="133350" cy="219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image.png" id="200" name="Google Shape;20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1" name="Google Shape;201;p19"/>
          <p:cNvPicPr preferRelativeResize="0"/>
          <p:nvPr/>
        </p:nvPicPr>
        <p:blipFill rotWithShape="1">
          <a:blip r:embed="rId4">
            <a:alphaModFix/>
          </a:blip>
          <a:srcRect b="0" l="0" r="0" t="0"/>
          <a:stretch/>
        </p:blipFill>
        <p:spPr>
          <a:xfrm>
            <a:off x="6334125" y="2009775"/>
            <a:ext cx="5276850" cy="3810000"/>
          </a:xfrm>
          <a:prstGeom prst="rect">
            <a:avLst/>
          </a:prstGeom>
          <a:noFill/>
          <a:ln>
            <a:noFill/>
          </a:ln>
        </p:spPr>
      </p:pic>
      <p:sp>
        <p:nvSpPr>
          <p:cNvPr id="202" name="Google Shape;202;p19"/>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AI MODEL PROCESSING &amp; RESPONSE</a:t>
            </a:r>
            <a:endParaRPr/>
          </a:p>
        </p:txBody>
      </p:sp>
      <p:sp>
        <p:nvSpPr>
          <p:cNvPr id="203" name="Google Shape;203;p19"/>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19"/>
          <p:cNvSpPr txBox="1"/>
          <p:nvPr/>
        </p:nvSpPr>
        <p:spPr>
          <a:xfrm>
            <a:off x="581025" y="2007393"/>
            <a:ext cx="5540692"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FFFFF"/>
                </a:solidFill>
                <a:latin typeface="Rajdhani"/>
                <a:ea typeface="Rajdhani"/>
                <a:cs typeface="Rajdhani"/>
                <a:sym typeface="Rajdhani"/>
              </a:rPr>
              <a:t>ANALYZING INTENT AND CONTEXT</a:t>
            </a:r>
            <a:endParaRPr/>
          </a:p>
        </p:txBody>
      </p:sp>
      <p:pic>
        <p:nvPicPr>
          <p:cNvPr descr="image.png" id="205" name="Google Shape;205;p19"/>
          <p:cNvPicPr preferRelativeResize="0"/>
          <p:nvPr/>
        </p:nvPicPr>
        <p:blipFill rotWithShape="1">
          <a:blip r:embed="rId5">
            <a:alphaModFix/>
          </a:blip>
          <a:srcRect b="0" l="0" r="0" t="0"/>
          <a:stretch/>
        </p:blipFill>
        <p:spPr>
          <a:xfrm>
            <a:off x="6343650" y="2019300"/>
            <a:ext cx="2057400" cy="228600"/>
          </a:xfrm>
          <a:prstGeom prst="rect">
            <a:avLst/>
          </a:prstGeom>
          <a:noFill/>
          <a:ln>
            <a:noFill/>
          </a:ln>
        </p:spPr>
      </p:pic>
      <p:sp>
        <p:nvSpPr>
          <p:cNvPr id="206" name="Google Shape;206;p19"/>
          <p:cNvSpPr txBox="1"/>
          <p:nvPr/>
        </p:nvSpPr>
        <p:spPr>
          <a:xfrm>
            <a:off x="866775" y="2378868"/>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E0E0E0"/>
                </a:solidFill>
                <a:latin typeface="Titillium Web"/>
                <a:ea typeface="Titillium Web"/>
                <a:cs typeface="Titillium Web"/>
                <a:sym typeface="Titillium Web"/>
              </a:rPr>
              <a:t>Converts and sends user text to AI via API (Core Processor).</a:t>
            </a:r>
            <a:endParaRPr/>
          </a:p>
        </p:txBody>
      </p:sp>
      <p:sp>
        <p:nvSpPr>
          <p:cNvPr id="207" name="Google Shape;207;p19"/>
          <p:cNvSpPr txBox="1"/>
          <p:nvPr/>
        </p:nvSpPr>
        <p:spPr>
          <a:xfrm>
            <a:off x="866775" y="3239690"/>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E0E0E0"/>
                </a:solidFill>
                <a:latin typeface="Titillium Web"/>
                <a:ea typeface="Titillium Web"/>
                <a:cs typeface="Titillium Web"/>
                <a:sym typeface="Titillium Web"/>
              </a:rPr>
              <a:t>Analyzes user intent, contextual meaning, and previous interactions.</a:t>
            </a:r>
            <a:endParaRPr/>
          </a:p>
        </p:txBody>
      </p:sp>
      <p:sp>
        <p:nvSpPr>
          <p:cNvPr id="208" name="Google Shape;208;p19"/>
          <p:cNvSpPr txBox="1"/>
          <p:nvPr/>
        </p:nvSpPr>
        <p:spPr>
          <a:xfrm>
            <a:off x="866775" y="4100512"/>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E0E0E0"/>
                </a:solidFill>
                <a:latin typeface="Titillium Web"/>
                <a:ea typeface="Titillium Web"/>
                <a:cs typeface="Titillium Web"/>
                <a:sym typeface="Titillium Web"/>
              </a:rPr>
              <a:t>Maintains conversational context for coherent responses.</a:t>
            </a:r>
            <a:endParaRPr/>
          </a:p>
        </p:txBody>
      </p:sp>
      <p:sp>
        <p:nvSpPr>
          <p:cNvPr id="209" name="Google Shape;209;p19"/>
          <p:cNvSpPr txBox="1"/>
          <p:nvPr/>
        </p:nvSpPr>
        <p:spPr>
          <a:xfrm>
            <a:off x="866775" y="4961334"/>
            <a:ext cx="49911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E0E0E0"/>
                </a:solidFill>
                <a:latin typeface="Titillium Web"/>
                <a:ea typeface="Titillium Web"/>
                <a:cs typeface="Titillium Web"/>
                <a:sym typeface="Titillium Web"/>
              </a:rPr>
              <a:t>Popular Models:</a:t>
            </a:r>
            <a:r>
              <a:rPr b="0" i="0" lang="en-US" sz="1650" u="none" cap="none" strike="noStrike">
                <a:solidFill>
                  <a:srgbClr val="E0E0E0"/>
                </a:solidFill>
                <a:latin typeface="Titillium Web"/>
                <a:ea typeface="Titillium Web"/>
                <a:cs typeface="Titillium Web"/>
                <a:sym typeface="Titillium Web"/>
              </a:rPr>
              <a:t> OpenAI GPT-4/5, Google Gemini, Anthropic Claude, Cohere Command-R.</a:t>
            </a:r>
            <a:endParaRPr/>
          </a:p>
        </p:txBody>
      </p:sp>
      <p:pic>
        <p:nvPicPr>
          <p:cNvPr descr="image.png" id="210" name="Google Shape;210;p19"/>
          <p:cNvPicPr preferRelativeResize="0"/>
          <p:nvPr/>
        </p:nvPicPr>
        <p:blipFill rotWithShape="1">
          <a:blip r:embed="rId6">
            <a:alphaModFix/>
          </a:blip>
          <a:srcRect b="0" l="0" r="0" t="0"/>
          <a:stretch/>
        </p:blipFill>
        <p:spPr>
          <a:xfrm>
            <a:off x="581025" y="2378868"/>
            <a:ext cx="133350" cy="219075"/>
          </a:xfrm>
          <a:prstGeom prst="rect">
            <a:avLst/>
          </a:prstGeom>
          <a:noFill/>
          <a:ln>
            <a:noFill/>
          </a:ln>
        </p:spPr>
      </p:pic>
      <p:pic>
        <p:nvPicPr>
          <p:cNvPr descr="image.png" id="211" name="Google Shape;211;p19"/>
          <p:cNvPicPr preferRelativeResize="0"/>
          <p:nvPr/>
        </p:nvPicPr>
        <p:blipFill rotWithShape="1">
          <a:blip r:embed="rId6">
            <a:alphaModFix/>
          </a:blip>
          <a:srcRect b="0" l="0" r="0" t="0"/>
          <a:stretch/>
        </p:blipFill>
        <p:spPr>
          <a:xfrm>
            <a:off x="581025" y="3239690"/>
            <a:ext cx="133350" cy="219075"/>
          </a:xfrm>
          <a:prstGeom prst="rect">
            <a:avLst/>
          </a:prstGeom>
          <a:noFill/>
          <a:ln>
            <a:noFill/>
          </a:ln>
        </p:spPr>
      </p:pic>
      <p:pic>
        <p:nvPicPr>
          <p:cNvPr descr="image.png" id="212" name="Google Shape;212;p19"/>
          <p:cNvPicPr preferRelativeResize="0"/>
          <p:nvPr/>
        </p:nvPicPr>
        <p:blipFill rotWithShape="1">
          <a:blip r:embed="rId6">
            <a:alphaModFix/>
          </a:blip>
          <a:srcRect b="0" l="0" r="0" t="0"/>
          <a:stretch/>
        </p:blipFill>
        <p:spPr>
          <a:xfrm>
            <a:off x="581025" y="4100512"/>
            <a:ext cx="133350" cy="219075"/>
          </a:xfrm>
          <a:prstGeom prst="rect">
            <a:avLst/>
          </a:prstGeom>
          <a:noFill/>
          <a:ln>
            <a:noFill/>
          </a:ln>
        </p:spPr>
      </p:pic>
      <p:pic>
        <p:nvPicPr>
          <p:cNvPr descr="image.png" id="213" name="Google Shape;213;p19"/>
          <p:cNvPicPr preferRelativeResize="0"/>
          <p:nvPr/>
        </p:nvPicPr>
        <p:blipFill rotWithShape="1">
          <a:blip r:embed="rId6">
            <a:alphaModFix/>
          </a:blip>
          <a:srcRect b="0" l="0" r="0" t="0"/>
          <a:stretch/>
        </p:blipFill>
        <p:spPr>
          <a:xfrm>
            <a:off x="581025" y="4961334"/>
            <a:ext cx="133350" cy="219075"/>
          </a:xfrm>
          <a:prstGeom prst="rect">
            <a:avLst/>
          </a:prstGeom>
          <a:noFill/>
          <a:ln>
            <a:noFill/>
          </a:ln>
        </p:spPr>
      </p:pic>
      <p:pic>
        <p:nvPicPr>
          <p:cNvPr id="214" name="Google Shape;214;p19"/>
          <p:cNvPicPr preferRelativeResize="0"/>
          <p:nvPr/>
        </p:nvPicPr>
        <p:blipFill>
          <a:blip r:embed="rId7">
            <a:alphaModFix/>
          </a:blip>
          <a:stretch>
            <a:fillRect/>
          </a:stretch>
        </p:blipFill>
        <p:spPr>
          <a:xfrm>
            <a:off x="6343650" y="2009775"/>
            <a:ext cx="5267325" cy="38099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image.png" id="219" name="Google Shape;21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0" name="Google Shape;220;p20"/>
          <p:cNvPicPr preferRelativeResize="0"/>
          <p:nvPr/>
        </p:nvPicPr>
        <p:blipFill rotWithShape="1">
          <a:blip r:embed="rId4">
            <a:alphaModFix/>
          </a:blip>
          <a:srcRect b="0" l="0" r="0" t="0"/>
          <a:stretch/>
        </p:blipFill>
        <p:spPr>
          <a:xfrm>
            <a:off x="581025" y="2538412"/>
            <a:ext cx="5324475" cy="2752725"/>
          </a:xfrm>
          <a:prstGeom prst="rect">
            <a:avLst/>
          </a:prstGeom>
          <a:noFill/>
          <a:ln>
            <a:noFill/>
          </a:ln>
        </p:spPr>
      </p:pic>
      <p:pic>
        <p:nvPicPr>
          <p:cNvPr descr="image.png" id="221" name="Google Shape;221;p20"/>
          <p:cNvPicPr preferRelativeResize="0"/>
          <p:nvPr/>
        </p:nvPicPr>
        <p:blipFill rotWithShape="1">
          <a:blip r:embed="rId5">
            <a:alphaModFix/>
          </a:blip>
          <a:srcRect b="0" l="0" r="0" t="0"/>
          <a:stretch/>
        </p:blipFill>
        <p:spPr>
          <a:xfrm>
            <a:off x="6286500" y="2219325"/>
            <a:ext cx="5324475" cy="3390900"/>
          </a:xfrm>
          <a:prstGeom prst="rect">
            <a:avLst/>
          </a:prstGeom>
          <a:noFill/>
          <a:ln>
            <a:noFill/>
          </a:ln>
        </p:spPr>
      </p:pic>
      <p:sp>
        <p:nvSpPr>
          <p:cNvPr id="222" name="Google Shape;222;p20"/>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UNDERSTANDING AND RESPONDING (NLU VS NLG)</a:t>
            </a:r>
            <a:endParaRPr/>
          </a:p>
        </p:txBody>
      </p:sp>
      <p:sp>
        <p:nvSpPr>
          <p:cNvPr id="223" name="Google Shape;223;p20"/>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0"/>
          <p:cNvSpPr txBox="1"/>
          <p:nvPr/>
        </p:nvSpPr>
        <p:spPr>
          <a:xfrm>
            <a:off x="971550" y="2928937"/>
            <a:ext cx="4770596"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F0055"/>
                </a:solidFill>
                <a:latin typeface="Rajdhani"/>
                <a:ea typeface="Rajdhani"/>
                <a:cs typeface="Rajdhani"/>
                <a:sym typeface="Rajdhani"/>
              </a:rPr>
              <a:t>NATURAL LANGUAGE UNDERSTANDING (NLU)</a:t>
            </a:r>
            <a:endParaRPr/>
          </a:p>
        </p:txBody>
      </p:sp>
      <p:sp>
        <p:nvSpPr>
          <p:cNvPr id="225" name="Google Shape;225;p20"/>
          <p:cNvSpPr/>
          <p:nvPr/>
        </p:nvSpPr>
        <p:spPr>
          <a:xfrm>
            <a:off x="971550" y="3709987"/>
            <a:ext cx="4543425" cy="9525"/>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0"/>
          <p:cNvSpPr txBox="1"/>
          <p:nvPr/>
        </p:nvSpPr>
        <p:spPr>
          <a:xfrm>
            <a:off x="971550" y="4100512"/>
            <a:ext cx="45434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Titillium Web"/>
                <a:ea typeface="Titillium Web"/>
                <a:cs typeface="Titillium Web"/>
                <a:sym typeface="Titillium Web"/>
              </a:rPr>
              <a:t>Interprets user intent by detecting keywords, tone, and sentiment. It breaks down *what* the user wants.</a:t>
            </a:r>
            <a:endParaRPr/>
          </a:p>
        </p:txBody>
      </p:sp>
      <p:sp>
        <p:nvSpPr>
          <p:cNvPr id="227" name="Google Shape;227;p20"/>
          <p:cNvSpPr txBox="1"/>
          <p:nvPr/>
        </p:nvSpPr>
        <p:spPr>
          <a:xfrm>
            <a:off x="6677025" y="2609850"/>
            <a:ext cx="4770596"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F0055"/>
                </a:solidFill>
                <a:latin typeface="Rajdhani"/>
                <a:ea typeface="Rajdhani"/>
                <a:cs typeface="Rajdhani"/>
                <a:sym typeface="Rajdhani"/>
              </a:rPr>
              <a:t>NATURAL LANGUAGE GENERATION (NLG)</a:t>
            </a:r>
            <a:endParaRPr/>
          </a:p>
        </p:txBody>
      </p:sp>
      <p:sp>
        <p:nvSpPr>
          <p:cNvPr id="228" name="Google Shape;228;p20"/>
          <p:cNvSpPr/>
          <p:nvPr/>
        </p:nvSpPr>
        <p:spPr>
          <a:xfrm>
            <a:off x="6677025" y="3390900"/>
            <a:ext cx="4543425" cy="9525"/>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0"/>
          <p:cNvSpPr txBox="1"/>
          <p:nvPr/>
        </p:nvSpPr>
        <p:spPr>
          <a:xfrm>
            <a:off x="6677025" y="3781425"/>
            <a:ext cx="45434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Titillium Web"/>
                <a:ea typeface="Titillium Web"/>
                <a:cs typeface="Titillium Web"/>
                <a:sym typeface="Titillium Web"/>
              </a:rPr>
              <a:t>Creates coherent, context-aware responses in natural, human-like language.</a:t>
            </a:r>
            <a:endParaRPr/>
          </a:p>
        </p:txBody>
      </p:sp>
      <p:sp>
        <p:nvSpPr>
          <p:cNvPr id="230" name="Google Shape;230;p20"/>
          <p:cNvSpPr txBox="1"/>
          <p:nvPr/>
        </p:nvSpPr>
        <p:spPr>
          <a:xfrm>
            <a:off x="6677025" y="4724400"/>
            <a:ext cx="45434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00F0FF"/>
                </a:solidFill>
                <a:latin typeface="Titillium Web"/>
                <a:ea typeface="Titillium Web"/>
                <a:cs typeface="Titillium Web"/>
                <a:sym typeface="Titillium Web"/>
              </a:rPr>
              <a:t>Example: "It's 28°C and sunny..."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image.png" id="235" name="Google Shape;23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21"/>
          <p:cNvPicPr preferRelativeResize="0"/>
          <p:nvPr/>
        </p:nvPicPr>
        <p:blipFill rotWithShape="1">
          <a:blip r:embed="rId4">
            <a:alphaModFix/>
          </a:blip>
          <a:srcRect b="0" l="0" r="0" t="0"/>
          <a:stretch/>
        </p:blipFill>
        <p:spPr>
          <a:xfrm>
            <a:off x="6334125" y="2247900"/>
            <a:ext cx="5276850" cy="3333750"/>
          </a:xfrm>
          <a:prstGeom prst="rect">
            <a:avLst/>
          </a:prstGeom>
          <a:noFill/>
          <a:ln>
            <a:noFill/>
          </a:ln>
        </p:spPr>
      </p:pic>
      <p:sp>
        <p:nvSpPr>
          <p:cNvPr id="237" name="Google Shape;237;p21"/>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TRANSFORMING TEXT INTO NATURAL SPEECH</a:t>
            </a:r>
            <a:endParaRPr/>
          </a:p>
        </p:txBody>
      </p:sp>
      <p:sp>
        <p:nvSpPr>
          <p:cNvPr id="238" name="Google Shape;238;p21"/>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9" name="Google Shape;239;p21"/>
          <p:cNvPicPr preferRelativeResize="0"/>
          <p:nvPr/>
        </p:nvPicPr>
        <p:blipFill rotWithShape="1">
          <a:blip r:embed="rId5">
            <a:alphaModFix/>
          </a:blip>
          <a:srcRect b="0" l="0" r="0" t="0"/>
          <a:stretch/>
        </p:blipFill>
        <p:spPr>
          <a:xfrm>
            <a:off x="6343650" y="2257425"/>
            <a:ext cx="5257800" cy="3314700"/>
          </a:xfrm>
          <a:prstGeom prst="rect">
            <a:avLst/>
          </a:prstGeom>
          <a:noFill/>
          <a:ln>
            <a:noFill/>
          </a:ln>
        </p:spPr>
      </p:pic>
      <p:pic>
        <p:nvPicPr>
          <p:cNvPr descr="image.png" id="240" name="Google Shape;240;p21"/>
          <p:cNvPicPr preferRelativeResize="0"/>
          <p:nvPr/>
        </p:nvPicPr>
        <p:blipFill rotWithShape="1">
          <a:blip r:embed="rId6">
            <a:alphaModFix/>
          </a:blip>
          <a:srcRect b="0" l="0" r="0" t="0"/>
          <a:stretch/>
        </p:blipFill>
        <p:spPr>
          <a:xfrm>
            <a:off x="904875" y="2327969"/>
            <a:ext cx="264914" cy="266700"/>
          </a:xfrm>
          <a:prstGeom prst="rect">
            <a:avLst/>
          </a:prstGeom>
          <a:noFill/>
          <a:ln>
            <a:noFill/>
          </a:ln>
        </p:spPr>
      </p:pic>
      <p:pic>
        <p:nvPicPr>
          <p:cNvPr descr="image.png" id="241" name="Google Shape;241;p21"/>
          <p:cNvPicPr preferRelativeResize="0"/>
          <p:nvPr/>
        </p:nvPicPr>
        <p:blipFill rotWithShape="1">
          <a:blip r:embed="rId7">
            <a:alphaModFix/>
          </a:blip>
          <a:srcRect b="0" l="0" r="0" t="0"/>
          <a:stretch/>
        </p:blipFill>
        <p:spPr>
          <a:xfrm>
            <a:off x="904875" y="3781425"/>
            <a:ext cx="333375" cy="266700"/>
          </a:xfrm>
          <a:prstGeom prst="rect">
            <a:avLst/>
          </a:prstGeom>
          <a:noFill/>
          <a:ln>
            <a:noFill/>
          </a:ln>
        </p:spPr>
      </p:pic>
      <p:pic>
        <p:nvPicPr>
          <p:cNvPr descr="image.png" id="242" name="Google Shape;242;p21"/>
          <p:cNvPicPr preferRelativeResize="0"/>
          <p:nvPr/>
        </p:nvPicPr>
        <p:blipFill rotWithShape="1">
          <a:blip r:embed="rId8">
            <a:alphaModFix/>
          </a:blip>
          <a:srcRect b="0" l="0" r="0" t="0"/>
          <a:stretch/>
        </p:blipFill>
        <p:spPr>
          <a:xfrm>
            <a:off x="904875" y="5234880"/>
            <a:ext cx="281582" cy="266700"/>
          </a:xfrm>
          <a:prstGeom prst="rect">
            <a:avLst/>
          </a:prstGeom>
          <a:noFill/>
          <a:ln>
            <a:noFill/>
          </a:ln>
        </p:spPr>
      </p:pic>
      <p:sp>
        <p:nvSpPr>
          <p:cNvPr id="243" name="Google Shape;243;p21"/>
          <p:cNvSpPr txBox="1"/>
          <p:nvPr/>
        </p:nvSpPr>
        <p:spPr>
          <a:xfrm>
            <a:off x="1360289" y="2020341"/>
            <a:ext cx="4422427"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Text Analysis &amp; Normalization</a:t>
            </a:r>
            <a:endParaRPr/>
          </a:p>
        </p:txBody>
      </p:sp>
      <p:sp>
        <p:nvSpPr>
          <p:cNvPr id="244" name="Google Shape;244;p21"/>
          <p:cNvSpPr txBox="1"/>
          <p:nvPr/>
        </p:nvSpPr>
        <p:spPr>
          <a:xfrm>
            <a:off x="1360289" y="2353716"/>
            <a:ext cx="421183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Preparing AI-generated text by refining structure and context for accurate synthesis.</a:t>
            </a:r>
            <a:endParaRPr/>
          </a:p>
        </p:txBody>
      </p:sp>
      <p:sp>
        <p:nvSpPr>
          <p:cNvPr id="245" name="Google Shape;245;p21"/>
          <p:cNvSpPr txBox="1"/>
          <p:nvPr/>
        </p:nvSpPr>
        <p:spPr>
          <a:xfrm>
            <a:off x="1428750" y="3473797"/>
            <a:ext cx="4350543"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Phoneme Mapping</a:t>
            </a:r>
            <a:endParaRPr/>
          </a:p>
        </p:txBody>
      </p:sp>
      <p:sp>
        <p:nvSpPr>
          <p:cNvPr id="246" name="Google Shape;246;p21"/>
          <p:cNvSpPr txBox="1"/>
          <p:nvPr/>
        </p:nvSpPr>
        <p:spPr>
          <a:xfrm>
            <a:off x="1428750" y="3807172"/>
            <a:ext cx="41433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Converting written text into phonemes, the fundamental units of sound.</a:t>
            </a:r>
            <a:endParaRPr/>
          </a:p>
        </p:txBody>
      </p:sp>
      <p:sp>
        <p:nvSpPr>
          <p:cNvPr id="247" name="Google Shape;247;p21"/>
          <p:cNvSpPr txBox="1"/>
          <p:nvPr/>
        </p:nvSpPr>
        <p:spPr>
          <a:xfrm>
            <a:off x="1376957" y="4927252"/>
            <a:ext cx="440492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Prosody Generation</a:t>
            </a:r>
            <a:endParaRPr/>
          </a:p>
        </p:txBody>
      </p:sp>
      <p:sp>
        <p:nvSpPr>
          <p:cNvPr id="248" name="Google Shape;248;p21"/>
          <p:cNvSpPr txBox="1"/>
          <p:nvPr/>
        </p:nvSpPr>
        <p:spPr>
          <a:xfrm>
            <a:off x="1376957" y="5260627"/>
            <a:ext cx="4195167"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Adding natural rhythm, tone, and emotion to produce realistic speech patterns.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image.png" id="253" name="Google Shape;253;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4" name="Google Shape;254;p22"/>
          <p:cNvPicPr preferRelativeResize="0"/>
          <p:nvPr/>
        </p:nvPicPr>
        <p:blipFill rotWithShape="1">
          <a:blip r:embed="rId4">
            <a:alphaModFix/>
          </a:blip>
          <a:srcRect b="0" l="0" r="0" t="0"/>
          <a:stretch/>
        </p:blipFill>
        <p:spPr>
          <a:xfrm>
            <a:off x="581025" y="1552575"/>
            <a:ext cx="3549699" cy="4724400"/>
          </a:xfrm>
          <a:prstGeom prst="rect">
            <a:avLst/>
          </a:prstGeom>
          <a:noFill/>
          <a:ln>
            <a:noFill/>
          </a:ln>
        </p:spPr>
      </p:pic>
      <p:pic>
        <p:nvPicPr>
          <p:cNvPr descr="image.png" id="255" name="Google Shape;255;p22"/>
          <p:cNvPicPr preferRelativeResize="0"/>
          <p:nvPr/>
        </p:nvPicPr>
        <p:blipFill rotWithShape="1">
          <a:blip r:embed="rId5">
            <a:alphaModFix/>
          </a:blip>
          <a:srcRect b="0" l="0" r="0" t="0"/>
          <a:stretch/>
        </p:blipFill>
        <p:spPr>
          <a:xfrm>
            <a:off x="4321224" y="1552575"/>
            <a:ext cx="3549699" cy="4724400"/>
          </a:xfrm>
          <a:prstGeom prst="rect">
            <a:avLst/>
          </a:prstGeom>
          <a:noFill/>
          <a:ln>
            <a:noFill/>
          </a:ln>
        </p:spPr>
      </p:pic>
      <p:pic>
        <p:nvPicPr>
          <p:cNvPr descr="image.png" id="256" name="Google Shape;256;p22"/>
          <p:cNvPicPr preferRelativeResize="0"/>
          <p:nvPr/>
        </p:nvPicPr>
        <p:blipFill rotWithShape="1">
          <a:blip r:embed="rId6">
            <a:alphaModFix/>
          </a:blip>
          <a:srcRect b="0" l="0" r="0" t="0"/>
          <a:stretch/>
        </p:blipFill>
        <p:spPr>
          <a:xfrm>
            <a:off x="8061424" y="1552575"/>
            <a:ext cx="3549699" cy="4724400"/>
          </a:xfrm>
          <a:prstGeom prst="rect">
            <a:avLst/>
          </a:prstGeom>
          <a:noFill/>
          <a:ln>
            <a:noFill/>
          </a:ln>
        </p:spPr>
      </p:pic>
      <p:sp>
        <p:nvSpPr>
          <p:cNvPr id="257" name="Google Shape;257;p22"/>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OUTPUT, CUSTOMIZATION &amp; LEARNING</a:t>
            </a:r>
            <a:endParaRPr/>
          </a:p>
        </p:txBody>
      </p:sp>
      <p:sp>
        <p:nvSpPr>
          <p:cNvPr id="258" name="Google Shape;258;p22"/>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2"/>
          <p:cNvSpPr txBox="1"/>
          <p:nvPr/>
        </p:nvSpPr>
        <p:spPr>
          <a:xfrm>
            <a:off x="702308" y="2619375"/>
            <a:ext cx="330713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PLAYBACK</a:t>
            </a:r>
            <a:endParaRPr/>
          </a:p>
        </p:txBody>
      </p:sp>
      <p:sp>
        <p:nvSpPr>
          <p:cNvPr id="260" name="Google Shape;260;p22"/>
          <p:cNvSpPr txBox="1"/>
          <p:nvPr/>
        </p:nvSpPr>
        <p:spPr>
          <a:xfrm>
            <a:off x="781050" y="3200400"/>
            <a:ext cx="3149649"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AAAAA"/>
                </a:solidFill>
                <a:latin typeface="Titillium Web"/>
                <a:ea typeface="Titillium Web"/>
                <a:cs typeface="Titillium Web"/>
                <a:sym typeface="Titillium Web"/>
              </a:rPr>
              <a:t>Synthesized speech plays through speakers or headphones, completing the interaction cycle.</a:t>
            </a:r>
            <a:endParaRPr/>
          </a:p>
        </p:txBody>
      </p:sp>
      <p:sp>
        <p:nvSpPr>
          <p:cNvPr id="261" name="Google Shape;261;p22"/>
          <p:cNvSpPr txBox="1"/>
          <p:nvPr/>
        </p:nvSpPr>
        <p:spPr>
          <a:xfrm>
            <a:off x="4442508" y="2619375"/>
            <a:ext cx="330713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CUSTOMIZATION</a:t>
            </a:r>
            <a:endParaRPr/>
          </a:p>
        </p:txBody>
      </p:sp>
      <p:sp>
        <p:nvSpPr>
          <p:cNvPr id="262" name="Google Shape;262;p22"/>
          <p:cNvSpPr txBox="1"/>
          <p:nvPr/>
        </p:nvSpPr>
        <p:spPr>
          <a:xfrm>
            <a:off x="4521249" y="3200400"/>
            <a:ext cx="3149649"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AAAAA"/>
                </a:solidFill>
                <a:latin typeface="Titillium Web"/>
                <a:ea typeface="Titillium Web"/>
                <a:cs typeface="Titillium Web"/>
                <a:sym typeface="Titillium Web"/>
              </a:rPr>
              <a:t>Users can adjust gender, accent, tone, and even use celebrity voices.</a:t>
            </a:r>
            <a:endParaRPr/>
          </a:p>
        </p:txBody>
      </p:sp>
      <p:sp>
        <p:nvSpPr>
          <p:cNvPr id="263" name="Google Shape;263;p22"/>
          <p:cNvSpPr txBox="1"/>
          <p:nvPr/>
        </p:nvSpPr>
        <p:spPr>
          <a:xfrm>
            <a:off x="8182707" y="2619375"/>
            <a:ext cx="330713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Rajdhani"/>
                <a:ea typeface="Rajdhani"/>
                <a:cs typeface="Rajdhani"/>
                <a:sym typeface="Rajdhani"/>
              </a:rPr>
              <a:t>ADAPTIVE LEARNING</a:t>
            </a:r>
            <a:endParaRPr/>
          </a:p>
        </p:txBody>
      </p:sp>
      <p:sp>
        <p:nvSpPr>
          <p:cNvPr id="264" name="Google Shape;264;p22"/>
          <p:cNvSpPr txBox="1"/>
          <p:nvPr/>
        </p:nvSpPr>
        <p:spPr>
          <a:xfrm>
            <a:off x="8261449" y="3200400"/>
            <a:ext cx="3149649"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AAAAAA"/>
                </a:solidFill>
                <a:latin typeface="Titillium Web"/>
                <a:ea typeface="Titillium Web"/>
                <a:cs typeface="Titillium Web"/>
                <a:sym typeface="Titillium Web"/>
              </a:rPr>
              <a:t>Refines voice responses using user feedback to enhance naturalness.</a:t>
            </a:r>
            <a:endParaRPr/>
          </a:p>
        </p:txBody>
      </p:sp>
      <p:pic>
        <p:nvPicPr>
          <p:cNvPr descr="image.png" id="265" name="Google Shape;265;p22"/>
          <p:cNvPicPr preferRelativeResize="0"/>
          <p:nvPr/>
        </p:nvPicPr>
        <p:blipFill rotWithShape="1">
          <a:blip r:embed="rId7">
            <a:alphaModFix/>
          </a:blip>
          <a:srcRect b="0" l="0" r="0" t="0"/>
          <a:stretch/>
        </p:blipFill>
        <p:spPr>
          <a:xfrm>
            <a:off x="2165300" y="1943100"/>
            <a:ext cx="381000" cy="381000"/>
          </a:xfrm>
          <a:prstGeom prst="rect">
            <a:avLst/>
          </a:prstGeom>
          <a:noFill/>
          <a:ln>
            <a:noFill/>
          </a:ln>
        </p:spPr>
      </p:pic>
      <p:pic>
        <p:nvPicPr>
          <p:cNvPr descr="image.png" id="266" name="Google Shape;266;p22"/>
          <p:cNvPicPr preferRelativeResize="0"/>
          <p:nvPr/>
        </p:nvPicPr>
        <p:blipFill rotWithShape="1">
          <a:blip r:embed="rId8">
            <a:alphaModFix/>
          </a:blip>
          <a:srcRect b="0" l="0" r="0" t="0"/>
          <a:stretch/>
        </p:blipFill>
        <p:spPr>
          <a:xfrm>
            <a:off x="5905500" y="1943100"/>
            <a:ext cx="381000" cy="381000"/>
          </a:xfrm>
          <a:prstGeom prst="rect">
            <a:avLst/>
          </a:prstGeom>
          <a:noFill/>
          <a:ln>
            <a:noFill/>
          </a:ln>
        </p:spPr>
      </p:pic>
      <p:pic>
        <p:nvPicPr>
          <p:cNvPr descr="image.png" id="267" name="Google Shape;267;p22"/>
          <p:cNvPicPr preferRelativeResize="0"/>
          <p:nvPr/>
        </p:nvPicPr>
        <p:blipFill rotWithShape="1">
          <a:blip r:embed="rId9">
            <a:alphaModFix/>
          </a:blip>
          <a:srcRect b="0" l="0" r="0" t="0"/>
          <a:stretch/>
        </p:blipFill>
        <p:spPr>
          <a:xfrm>
            <a:off x="9598074" y="1943100"/>
            <a:ext cx="476250" cy="38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image.png" id="272" name="Google Shape;272;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3" name="Google Shape;273;p23"/>
          <p:cNvPicPr preferRelativeResize="0"/>
          <p:nvPr/>
        </p:nvPicPr>
        <p:blipFill rotWithShape="1">
          <a:blip r:embed="rId4">
            <a:alphaModFix/>
          </a:blip>
          <a:srcRect b="0" l="0" r="0" t="0"/>
          <a:stretch/>
        </p:blipFill>
        <p:spPr>
          <a:xfrm>
            <a:off x="590550" y="4282529"/>
            <a:ext cx="3530500" cy="813345"/>
          </a:xfrm>
          <a:prstGeom prst="rect">
            <a:avLst/>
          </a:prstGeom>
          <a:noFill/>
          <a:ln>
            <a:noFill/>
          </a:ln>
        </p:spPr>
      </p:pic>
      <p:pic>
        <p:nvPicPr>
          <p:cNvPr descr="image.png" id="274" name="Google Shape;274;p23"/>
          <p:cNvPicPr preferRelativeResize="0"/>
          <p:nvPr/>
        </p:nvPicPr>
        <p:blipFill rotWithShape="1">
          <a:blip r:embed="rId5">
            <a:alphaModFix/>
          </a:blip>
          <a:srcRect b="0" l="0" r="0" t="0"/>
          <a:stretch/>
        </p:blipFill>
        <p:spPr>
          <a:xfrm>
            <a:off x="4330600" y="4282529"/>
            <a:ext cx="3530649" cy="813345"/>
          </a:xfrm>
          <a:prstGeom prst="rect">
            <a:avLst/>
          </a:prstGeom>
          <a:noFill/>
          <a:ln>
            <a:noFill/>
          </a:ln>
        </p:spPr>
      </p:pic>
      <p:pic>
        <p:nvPicPr>
          <p:cNvPr descr="image.png" id="275" name="Google Shape;275;p23"/>
          <p:cNvPicPr preferRelativeResize="0"/>
          <p:nvPr/>
        </p:nvPicPr>
        <p:blipFill rotWithShape="1">
          <a:blip r:embed="rId6">
            <a:alphaModFix/>
          </a:blip>
          <a:srcRect b="0" l="0" r="0" t="0"/>
          <a:stretch/>
        </p:blipFill>
        <p:spPr>
          <a:xfrm>
            <a:off x="8070800" y="4282529"/>
            <a:ext cx="3530500" cy="813345"/>
          </a:xfrm>
          <a:prstGeom prst="rect">
            <a:avLst/>
          </a:prstGeom>
          <a:noFill/>
          <a:ln>
            <a:noFill/>
          </a:ln>
        </p:spPr>
      </p:pic>
      <p:sp>
        <p:nvSpPr>
          <p:cNvPr id="276" name="Google Shape;276;p23"/>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REAL-WORLD IMPACT OF VOICE ASSISTANTS</a:t>
            </a:r>
            <a:endParaRPr/>
          </a:p>
        </p:txBody>
      </p:sp>
      <p:sp>
        <p:nvSpPr>
          <p:cNvPr id="277" name="Google Shape;277;p23"/>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8" name="Google Shape;278;p23"/>
          <p:cNvPicPr preferRelativeResize="0"/>
          <p:nvPr/>
        </p:nvPicPr>
        <p:blipFill rotWithShape="1">
          <a:blip r:embed="rId7">
            <a:alphaModFix/>
          </a:blip>
          <a:srcRect b="0" l="0" r="0" t="0"/>
          <a:stretch/>
        </p:blipFill>
        <p:spPr>
          <a:xfrm>
            <a:off x="590550" y="2733675"/>
            <a:ext cx="3530500" cy="2362200"/>
          </a:xfrm>
          <a:prstGeom prst="rect">
            <a:avLst/>
          </a:prstGeom>
          <a:noFill/>
          <a:ln>
            <a:noFill/>
          </a:ln>
        </p:spPr>
      </p:pic>
      <p:pic>
        <p:nvPicPr>
          <p:cNvPr descr="image.png" id="279" name="Google Shape;279;p23"/>
          <p:cNvPicPr preferRelativeResize="0"/>
          <p:nvPr/>
        </p:nvPicPr>
        <p:blipFill rotWithShape="1">
          <a:blip r:embed="rId8">
            <a:alphaModFix/>
          </a:blip>
          <a:srcRect b="0" l="0" r="0" t="0"/>
          <a:stretch/>
        </p:blipFill>
        <p:spPr>
          <a:xfrm>
            <a:off x="4330600" y="2733675"/>
            <a:ext cx="3530649" cy="2362200"/>
          </a:xfrm>
          <a:prstGeom prst="rect">
            <a:avLst/>
          </a:prstGeom>
          <a:noFill/>
          <a:ln>
            <a:noFill/>
          </a:ln>
        </p:spPr>
      </p:pic>
      <p:pic>
        <p:nvPicPr>
          <p:cNvPr descr="image.png" id="280" name="Google Shape;280;p23"/>
          <p:cNvPicPr preferRelativeResize="0"/>
          <p:nvPr/>
        </p:nvPicPr>
        <p:blipFill rotWithShape="1">
          <a:blip r:embed="rId9">
            <a:alphaModFix/>
          </a:blip>
          <a:srcRect b="0" l="0" r="0" t="0"/>
          <a:stretch/>
        </p:blipFill>
        <p:spPr>
          <a:xfrm>
            <a:off x="8070800" y="2733675"/>
            <a:ext cx="3530500" cy="2362200"/>
          </a:xfrm>
          <a:prstGeom prst="rect">
            <a:avLst/>
          </a:prstGeom>
          <a:noFill/>
          <a:ln>
            <a:noFill/>
          </a:ln>
        </p:spPr>
      </p:pic>
      <p:sp>
        <p:nvSpPr>
          <p:cNvPr id="281" name="Google Shape;281;p23"/>
          <p:cNvSpPr txBox="1"/>
          <p:nvPr/>
        </p:nvSpPr>
        <p:spPr>
          <a:xfrm>
            <a:off x="733425" y="4444454"/>
            <a:ext cx="3406988"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Rajdhani"/>
                <a:ea typeface="Rajdhani"/>
                <a:cs typeface="Rajdhani"/>
                <a:sym typeface="Rajdhani"/>
              </a:rPr>
              <a:t>SMARTPHONES</a:t>
            </a:r>
            <a:endParaRPr/>
          </a:p>
        </p:txBody>
      </p:sp>
      <p:sp>
        <p:nvSpPr>
          <p:cNvPr id="282" name="Google Shape;282;p23"/>
          <p:cNvSpPr txBox="1"/>
          <p:nvPr/>
        </p:nvSpPr>
        <p:spPr>
          <a:xfrm>
            <a:off x="733425" y="4739729"/>
            <a:ext cx="324475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CCCCCC"/>
                </a:solidFill>
                <a:latin typeface="Titillium Web"/>
                <a:ea typeface="Titillium Web"/>
                <a:cs typeface="Titillium Web"/>
                <a:sym typeface="Titillium Web"/>
              </a:rPr>
              <a:t>Siri, Google Assistant for hands-free operation.</a:t>
            </a:r>
            <a:endParaRPr/>
          </a:p>
        </p:txBody>
      </p:sp>
      <p:sp>
        <p:nvSpPr>
          <p:cNvPr id="283" name="Google Shape;283;p23"/>
          <p:cNvSpPr txBox="1"/>
          <p:nvPr/>
        </p:nvSpPr>
        <p:spPr>
          <a:xfrm>
            <a:off x="4473475" y="4444454"/>
            <a:ext cx="3407144"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Rajdhani"/>
                <a:ea typeface="Rajdhani"/>
                <a:cs typeface="Rajdhani"/>
                <a:sym typeface="Rajdhani"/>
              </a:rPr>
              <a:t>SMART HOMES</a:t>
            </a:r>
            <a:endParaRPr/>
          </a:p>
        </p:txBody>
      </p:sp>
      <p:sp>
        <p:nvSpPr>
          <p:cNvPr id="284" name="Google Shape;284;p23"/>
          <p:cNvSpPr txBox="1"/>
          <p:nvPr/>
        </p:nvSpPr>
        <p:spPr>
          <a:xfrm>
            <a:off x="4473475" y="4739729"/>
            <a:ext cx="3244899"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CCCCCC"/>
                </a:solidFill>
                <a:latin typeface="Titillium Web"/>
                <a:ea typeface="Titillium Web"/>
                <a:cs typeface="Titillium Web"/>
                <a:sym typeface="Titillium Web"/>
              </a:rPr>
              <a:t>Alexa controlling lights, thermostats, and automation.</a:t>
            </a:r>
            <a:endParaRPr/>
          </a:p>
        </p:txBody>
      </p:sp>
      <p:sp>
        <p:nvSpPr>
          <p:cNvPr id="285" name="Google Shape;285;p23"/>
          <p:cNvSpPr txBox="1"/>
          <p:nvPr/>
        </p:nvSpPr>
        <p:spPr>
          <a:xfrm>
            <a:off x="8213675" y="4444454"/>
            <a:ext cx="3406988"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Rajdhani"/>
                <a:ea typeface="Rajdhani"/>
                <a:cs typeface="Rajdhani"/>
                <a:sym typeface="Rajdhani"/>
              </a:rPr>
              <a:t>HEALTHCARE</a:t>
            </a:r>
            <a:endParaRPr/>
          </a:p>
        </p:txBody>
      </p:sp>
      <p:sp>
        <p:nvSpPr>
          <p:cNvPr id="286" name="Google Shape;286;p23"/>
          <p:cNvSpPr txBox="1"/>
          <p:nvPr/>
        </p:nvSpPr>
        <p:spPr>
          <a:xfrm>
            <a:off x="8213675" y="4739729"/>
            <a:ext cx="324475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CCCCCC"/>
                </a:solidFill>
                <a:latin typeface="Titillium Web"/>
                <a:ea typeface="Titillium Web"/>
                <a:cs typeface="Titillium Web"/>
                <a:sym typeface="Titillium Web"/>
              </a:rPr>
              <a:t>Voice reminders for elderly and visually impaired.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image.png" id="291" name="Google Shape;291;p24"/>
          <p:cNvPicPr preferRelativeResize="0"/>
          <p:nvPr/>
        </p:nvPicPr>
        <p:blipFill rotWithShape="1">
          <a:blip r:embed="rId3">
            <a:alphaModFix/>
          </a:blip>
          <a:srcRect b="0" l="0" r="0" t="0"/>
          <a:stretch/>
        </p:blipFill>
        <p:spPr>
          <a:xfrm>
            <a:off x="0" y="-21887"/>
            <a:ext cx="12192000" cy="6858000"/>
          </a:xfrm>
          <a:prstGeom prst="rect">
            <a:avLst/>
          </a:prstGeom>
          <a:noFill/>
          <a:ln>
            <a:noFill/>
          </a:ln>
        </p:spPr>
      </p:pic>
      <p:pic>
        <p:nvPicPr>
          <p:cNvPr descr="image.png" id="292" name="Google Shape;292;p24"/>
          <p:cNvPicPr preferRelativeResize="0"/>
          <p:nvPr/>
        </p:nvPicPr>
        <p:blipFill rotWithShape="1">
          <a:blip r:embed="rId4">
            <a:alphaModFix/>
          </a:blip>
          <a:srcRect b="0" l="0" r="0" t="0"/>
          <a:stretch/>
        </p:blipFill>
        <p:spPr>
          <a:xfrm>
            <a:off x="581025" y="6078879"/>
            <a:ext cx="11029950" cy="609600"/>
          </a:xfrm>
          <a:prstGeom prst="rect">
            <a:avLst/>
          </a:prstGeom>
          <a:noFill/>
          <a:ln>
            <a:noFill/>
          </a:ln>
        </p:spPr>
      </p:pic>
      <p:sp>
        <p:nvSpPr>
          <p:cNvPr id="293" name="Google Shape;293;p24"/>
          <p:cNvSpPr txBox="1"/>
          <p:nvPr/>
        </p:nvSpPr>
        <p:spPr>
          <a:xfrm>
            <a:off x="762000" y="144810"/>
            <a:ext cx="11381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PERFORMANCE BENCHMARKING: H.M.K. VS GIANTS</a:t>
            </a:r>
            <a:endParaRPr/>
          </a:p>
        </p:txBody>
      </p:sp>
      <p:sp>
        <p:nvSpPr>
          <p:cNvPr id="294" name="Google Shape;294;p24"/>
          <p:cNvSpPr/>
          <p:nvPr/>
        </p:nvSpPr>
        <p:spPr>
          <a:xfrm>
            <a:off x="561938" y="144660"/>
            <a:ext cx="47700" cy="59070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4"/>
          <p:cNvSpPr txBox="1"/>
          <p:nvPr/>
        </p:nvSpPr>
        <p:spPr>
          <a:xfrm>
            <a:off x="581025" y="697259"/>
            <a:ext cx="110299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0E0E0"/>
                </a:solidFill>
                <a:latin typeface="Titillium Web"/>
                <a:ea typeface="Titillium Web"/>
                <a:cs typeface="Titillium Web"/>
                <a:sym typeface="Titillium Web"/>
              </a:rPr>
              <a:t>A comparative analysis of Project H.M.K. against industry leaders. The results highlight the </a:t>
            </a:r>
            <a:r>
              <a:rPr b="1" i="0" lang="en-US" sz="1500" u="none" cap="none" strike="noStrike">
                <a:solidFill>
                  <a:srgbClr val="E0E0E0"/>
                </a:solidFill>
                <a:latin typeface="Titillium Web"/>
                <a:ea typeface="Titillium Web"/>
                <a:cs typeface="Titillium Web"/>
                <a:sym typeface="Titillium Web"/>
              </a:rPr>
              <a:t>Latency vs. Intelligence</a:t>
            </a:r>
            <a:r>
              <a:rPr b="0" i="0" lang="en-US" sz="1500" u="none" cap="none" strike="noStrike">
                <a:solidFill>
                  <a:srgbClr val="E0E0E0"/>
                </a:solidFill>
                <a:latin typeface="Titillium Web"/>
                <a:ea typeface="Titillium Web"/>
                <a:cs typeface="Titillium Web"/>
                <a:sym typeface="Titillium Web"/>
              </a:rPr>
              <a:t> trade-off inherent in cloud-chained architectures versus on-device optimization.</a:t>
            </a:r>
            <a:endParaRPr/>
          </a:p>
        </p:txBody>
      </p:sp>
      <p:sp>
        <p:nvSpPr>
          <p:cNvPr id="296" name="Google Shape;296;p24"/>
          <p:cNvSpPr/>
          <p:nvPr/>
        </p:nvSpPr>
        <p:spPr>
          <a:xfrm>
            <a:off x="581025" y="2468909"/>
            <a:ext cx="3390602" cy="19050"/>
          </a:xfrm>
          <a:prstGeom prst="rect">
            <a:avLst/>
          </a:prstGeom>
          <a:solidFill>
            <a:srgbClr val="00F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4"/>
          <p:cNvSpPr/>
          <p:nvPr/>
        </p:nvSpPr>
        <p:spPr>
          <a:xfrm>
            <a:off x="3971627" y="2468909"/>
            <a:ext cx="2145208" cy="19050"/>
          </a:xfrm>
          <a:prstGeom prst="rect">
            <a:avLst/>
          </a:prstGeom>
          <a:solidFill>
            <a:srgbClr val="00F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4"/>
          <p:cNvSpPr/>
          <p:nvPr/>
        </p:nvSpPr>
        <p:spPr>
          <a:xfrm>
            <a:off x="6116835" y="2468909"/>
            <a:ext cx="1873150" cy="19050"/>
          </a:xfrm>
          <a:prstGeom prst="rect">
            <a:avLst/>
          </a:prstGeom>
          <a:solidFill>
            <a:srgbClr val="00F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4"/>
          <p:cNvSpPr/>
          <p:nvPr/>
        </p:nvSpPr>
        <p:spPr>
          <a:xfrm>
            <a:off x="7989986" y="2468909"/>
            <a:ext cx="1527720" cy="19050"/>
          </a:xfrm>
          <a:prstGeom prst="rect">
            <a:avLst/>
          </a:prstGeom>
          <a:solidFill>
            <a:srgbClr val="00F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4"/>
          <p:cNvSpPr txBox="1"/>
          <p:nvPr/>
        </p:nvSpPr>
        <p:spPr>
          <a:xfrm>
            <a:off x="742950" y="6115334"/>
            <a:ext cx="10706100" cy="5403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F9FB4"/>
                </a:solidFill>
                <a:latin typeface="Titillium Web"/>
                <a:ea typeface="Titillium Web"/>
                <a:cs typeface="Titillium Web"/>
                <a:sym typeface="Titillium Web"/>
              </a:rPr>
              <a:t>Key Insight:</a:t>
            </a:r>
            <a:r>
              <a:rPr b="0" i="0" lang="en-US" sz="1350" u="none" cap="none" strike="noStrike">
                <a:solidFill>
                  <a:srgbClr val="FF9FB4"/>
                </a:solidFill>
                <a:latin typeface="Titillium Web"/>
                <a:ea typeface="Titillium Web"/>
                <a:cs typeface="Titillium Web"/>
                <a:sym typeface="Titillium Web"/>
              </a:rPr>
              <a:t> Our latency is significantly higher (3.8s) due to the lack of dedicated edge-computing hardware. However, this allows us to leverage larger, more complex LLMs in the cloud for deeper reasoning capabilities.</a:t>
            </a:r>
            <a:endParaRPr/>
          </a:p>
        </p:txBody>
      </p:sp>
      <p:sp>
        <p:nvSpPr>
          <p:cNvPr id="301" name="Google Shape;301;p24"/>
          <p:cNvSpPr/>
          <p:nvPr/>
        </p:nvSpPr>
        <p:spPr>
          <a:xfrm>
            <a:off x="581025" y="3297584"/>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4"/>
          <p:cNvSpPr/>
          <p:nvPr/>
        </p:nvSpPr>
        <p:spPr>
          <a:xfrm>
            <a:off x="581025" y="2583209"/>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4"/>
          <p:cNvSpPr/>
          <p:nvPr/>
        </p:nvSpPr>
        <p:spPr>
          <a:xfrm>
            <a:off x="581025" y="2583209"/>
            <a:ext cx="9525" cy="723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4"/>
          <p:cNvSpPr/>
          <p:nvPr/>
        </p:nvSpPr>
        <p:spPr>
          <a:xfrm>
            <a:off x="3971627" y="3297584"/>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4"/>
          <p:cNvSpPr/>
          <p:nvPr/>
        </p:nvSpPr>
        <p:spPr>
          <a:xfrm>
            <a:off x="3971627" y="2583209"/>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4"/>
          <p:cNvSpPr/>
          <p:nvPr/>
        </p:nvSpPr>
        <p:spPr>
          <a:xfrm>
            <a:off x="6116835" y="3297584"/>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4"/>
          <p:cNvSpPr/>
          <p:nvPr/>
        </p:nvSpPr>
        <p:spPr>
          <a:xfrm>
            <a:off x="6116835" y="2583209"/>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4"/>
          <p:cNvSpPr/>
          <p:nvPr/>
        </p:nvSpPr>
        <p:spPr>
          <a:xfrm>
            <a:off x="7989986" y="3297584"/>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4"/>
          <p:cNvSpPr/>
          <p:nvPr/>
        </p:nvSpPr>
        <p:spPr>
          <a:xfrm>
            <a:off x="7989986" y="2583209"/>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4"/>
          <p:cNvSpPr/>
          <p:nvPr/>
        </p:nvSpPr>
        <p:spPr>
          <a:xfrm>
            <a:off x="581025" y="4116734"/>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4"/>
          <p:cNvSpPr/>
          <p:nvPr/>
        </p:nvSpPr>
        <p:spPr>
          <a:xfrm>
            <a:off x="581025" y="3402359"/>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4"/>
          <p:cNvSpPr/>
          <p:nvPr/>
        </p:nvSpPr>
        <p:spPr>
          <a:xfrm>
            <a:off x="581025" y="3402359"/>
            <a:ext cx="9525" cy="723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4"/>
          <p:cNvSpPr/>
          <p:nvPr/>
        </p:nvSpPr>
        <p:spPr>
          <a:xfrm>
            <a:off x="3971627" y="4116734"/>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4"/>
          <p:cNvSpPr/>
          <p:nvPr/>
        </p:nvSpPr>
        <p:spPr>
          <a:xfrm>
            <a:off x="3971627" y="3402359"/>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4"/>
          <p:cNvSpPr/>
          <p:nvPr/>
        </p:nvSpPr>
        <p:spPr>
          <a:xfrm>
            <a:off x="6116835" y="4116734"/>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4"/>
          <p:cNvSpPr/>
          <p:nvPr/>
        </p:nvSpPr>
        <p:spPr>
          <a:xfrm>
            <a:off x="6116835" y="3402359"/>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4"/>
          <p:cNvSpPr/>
          <p:nvPr/>
        </p:nvSpPr>
        <p:spPr>
          <a:xfrm>
            <a:off x="7989986" y="4116734"/>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4"/>
          <p:cNvSpPr/>
          <p:nvPr/>
        </p:nvSpPr>
        <p:spPr>
          <a:xfrm>
            <a:off x="7989986" y="3402359"/>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4"/>
          <p:cNvSpPr/>
          <p:nvPr/>
        </p:nvSpPr>
        <p:spPr>
          <a:xfrm>
            <a:off x="581025" y="4935884"/>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4"/>
          <p:cNvSpPr/>
          <p:nvPr/>
        </p:nvSpPr>
        <p:spPr>
          <a:xfrm>
            <a:off x="581025" y="4221509"/>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4"/>
          <p:cNvSpPr/>
          <p:nvPr/>
        </p:nvSpPr>
        <p:spPr>
          <a:xfrm>
            <a:off x="581025" y="4221509"/>
            <a:ext cx="9525" cy="723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4"/>
          <p:cNvSpPr/>
          <p:nvPr/>
        </p:nvSpPr>
        <p:spPr>
          <a:xfrm>
            <a:off x="3971627" y="4935884"/>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4"/>
          <p:cNvSpPr/>
          <p:nvPr/>
        </p:nvSpPr>
        <p:spPr>
          <a:xfrm>
            <a:off x="3971627" y="4221509"/>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4"/>
          <p:cNvSpPr/>
          <p:nvPr/>
        </p:nvSpPr>
        <p:spPr>
          <a:xfrm>
            <a:off x="6116835" y="4935884"/>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4"/>
          <p:cNvSpPr/>
          <p:nvPr/>
        </p:nvSpPr>
        <p:spPr>
          <a:xfrm>
            <a:off x="6116835" y="4221509"/>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4"/>
          <p:cNvSpPr/>
          <p:nvPr/>
        </p:nvSpPr>
        <p:spPr>
          <a:xfrm>
            <a:off x="7989986" y="4935884"/>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4"/>
          <p:cNvSpPr/>
          <p:nvPr/>
        </p:nvSpPr>
        <p:spPr>
          <a:xfrm>
            <a:off x="7989986" y="4221509"/>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4"/>
          <p:cNvSpPr/>
          <p:nvPr/>
        </p:nvSpPr>
        <p:spPr>
          <a:xfrm>
            <a:off x="581025" y="5755034"/>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4"/>
          <p:cNvSpPr/>
          <p:nvPr/>
        </p:nvSpPr>
        <p:spPr>
          <a:xfrm>
            <a:off x="581025" y="5040659"/>
            <a:ext cx="339060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4"/>
          <p:cNvSpPr/>
          <p:nvPr/>
        </p:nvSpPr>
        <p:spPr>
          <a:xfrm>
            <a:off x="581025" y="5040659"/>
            <a:ext cx="9525" cy="723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4"/>
          <p:cNvSpPr/>
          <p:nvPr/>
        </p:nvSpPr>
        <p:spPr>
          <a:xfrm>
            <a:off x="3971627" y="5755034"/>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4"/>
          <p:cNvSpPr/>
          <p:nvPr/>
        </p:nvSpPr>
        <p:spPr>
          <a:xfrm>
            <a:off x="3971627" y="5040659"/>
            <a:ext cx="214520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6116835" y="5755034"/>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4"/>
          <p:cNvSpPr/>
          <p:nvPr/>
        </p:nvSpPr>
        <p:spPr>
          <a:xfrm>
            <a:off x="6116835" y="5040659"/>
            <a:ext cx="18731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4"/>
          <p:cNvSpPr/>
          <p:nvPr/>
        </p:nvSpPr>
        <p:spPr>
          <a:xfrm>
            <a:off x="7989986" y="5755034"/>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4"/>
          <p:cNvSpPr/>
          <p:nvPr/>
        </p:nvSpPr>
        <p:spPr>
          <a:xfrm>
            <a:off x="7989986" y="5040659"/>
            <a:ext cx="15277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37" name="Google Shape;337;p24"/>
          <p:cNvPicPr preferRelativeResize="0"/>
          <p:nvPr/>
        </p:nvPicPr>
        <p:blipFill>
          <a:blip r:embed="rId5">
            <a:alphaModFix/>
          </a:blip>
          <a:stretch>
            <a:fillRect/>
          </a:stretch>
        </p:blipFill>
        <p:spPr>
          <a:xfrm>
            <a:off x="561950" y="1619250"/>
            <a:ext cx="10434649" cy="4135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image.png" id="342" name="Google Shape;342;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25"/>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ADVANTAGES AND FUTURE POSSIBILITIES</a:t>
            </a:r>
            <a:endParaRPr/>
          </a:p>
        </p:txBody>
      </p:sp>
      <p:sp>
        <p:nvSpPr>
          <p:cNvPr id="344" name="Google Shape;344;p25"/>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5" name="Google Shape;345;p25"/>
          <p:cNvPicPr preferRelativeResize="0"/>
          <p:nvPr/>
        </p:nvPicPr>
        <p:blipFill rotWithShape="1">
          <a:blip r:embed="rId4">
            <a:alphaModFix/>
          </a:blip>
          <a:srcRect b="0" l="0" r="0" t="0"/>
          <a:stretch/>
        </p:blipFill>
        <p:spPr>
          <a:xfrm>
            <a:off x="904875" y="2602110"/>
            <a:ext cx="381000" cy="266700"/>
          </a:xfrm>
          <a:prstGeom prst="rect">
            <a:avLst/>
          </a:prstGeom>
          <a:noFill/>
          <a:ln>
            <a:noFill/>
          </a:ln>
        </p:spPr>
      </p:pic>
      <p:pic>
        <p:nvPicPr>
          <p:cNvPr descr="image.png" id="346" name="Google Shape;346;p25"/>
          <p:cNvPicPr preferRelativeResize="0"/>
          <p:nvPr/>
        </p:nvPicPr>
        <p:blipFill rotWithShape="1">
          <a:blip r:embed="rId5">
            <a:alphaModFix/>
          </a:blip>
          <a:srcRect b="0" l="0" r="0" t="0"/>
          <a:stretch/>
        </p:blipFill>
        <p:spPr>
          <a:xfrm>
            <a:off x="904875" y="3781276"/>
            <a:ext cx="381000" cy="266700"/>
          </a:xfrm>
          <a:prstGeom prst="rect">
            <a:avLst/>
          </a:prstGeom>
          <a:noFill/>
          <a:ln>
            <a:noFill/>
          </a:ln>
        </p:spPr>
      </p:pic>
      <p:pic>
        <p:nvPicPr>
          <p:cNvPr descr="image.png" id="347" name="Google Shape;347;p25"/>
          <p:cNvPicPr preferRelativeResize="0"/>
          <p:nvPr/>
        </p:nvPicPr>
        <p:blipFill rotWithShape="1">
          <a:blip r:embed="rId6">
            <a:alphaModFix/>
          </a:blip>
          <a:srcRect b="0" l="0" r="0" t="0"/>
          <a:stretch/>
        </p:blipFill>
        <p:spPr>
          <a:xfrm>
            <a:off x="904875" y="4960441"/>
            <a:ext cx="381000" cy="266700"/>
          </a:xfrm>
          <a:prstGeom prst="rect">
            <a:avLst/>
          </a:prstGeom>
          <a:noFill/>
          <a:ln>
            <a:noFill/>
          </a:ln>
        </p:spPr>
      </p:pic>
      <p:pic>
        <p:nvPicPr>
          <p:cNvPr descr="image.png" id="348" name="Google Shape;348;p25"/>
          <p:cNvPicPr preferRelativeResize="0"/>
          <p:nvPr/>
        </p:nvPicPr>
        <p:blipFill rotWithShape="1">
          <a:blip r:embed="rId7">
            <a:alphaModFix/>
          </a:blip>
          <a:srcRect b="0" l="0" r="0" t="0"/>
          <a:stretch/>
        </p:blipFill>
        <p:spPr>
          <a:xfrm>
            <a:off x="6657975" y="2465040"/>
            <a:ext cx="375344" cy="266700"/>
          </a:xfrm>
          <a:prstGeom prst="rect">
            <a:avLst/>
          </a:prstGeom>
          <a:noFill/>
          <a:ln>
            <a:noFill/>
          </a:ln>
        </p:spPr>
      </p:pic>
      <p:pic>
        <p:nvPicPr>
          <p:cNvPr descr="image.png" id="349" name="Google Shape;349;p25"/>
          <p:cNvPicPr preferRelativeResize="0"/>
          <p:nvPr/>
        </p:nvPicPr>
        <p:blipFill rotWithShape="1">
          <a:blip r:embed="rId8">
            <a:alphaModFix/>
          </a:blip>
          <a:srcRect b="0" l="0" r="0" t="0"/>
          <a:stretch/>
        </p:blipFill>
        <p:spPr>
          <a:xfrm>
            <a:off x="6657975" y="3781276"/>
            <a:ext cx="381000" cy="266700"/>
          </a:xfrm>
          <a:prstGeom prst="rect">
            <a:avLst/>
          </a:prstGeom>
          <a:noFill/>
          <a:ln>
            <a:noFill/>
          </a:ln>
        </p:spPr>
      </p:pic>
      <p:pic>
        <p:nvPicPr>
          <p:cNvPr descr="image.png" id="350" name="Google Shape;350;p25"/>
          <p:cNvPicPr preferRelativeResize="0"/>
          <p:nvPr/>
        </p:nvPicPr>
        <p:blipFill rotWithShape="1">
          <a:blip r:embed="rId9">
            <a:alphaModFix/>
          </a:blip>
          <a:srcRect b="0" l="0" r="0" t="0"/>
          <a:stretch/>
        </p:blipFill>
        <p:spPr>
          <a:xfrm>
            <a:off x="6657975" y="5097660"/>
            <a:ext cx="379362" cy="266700"/>
          </a:xfrm>
          <a:prstGeom prst="rect">
            <a:avLst/>
          </a:prstGeom>
          <a:noFill/>
          <a:ln>
            <a:noFill/>
          </a:ln>
        </p:spPr>
      </p:pic>
      <p:sp>
        <p:nvSpPr>
          <p:cNvPr id="351" name="Google Shape;351;p25"/>
          <p:cNvSpPr txBox="1"/>
          <p:nvPr/>
        </p:nvSpPr>
        <p:spPr>
          <a:xfrm>
            <a:off x="1476375" y="2431702"/>
            <a:ext cx="3670458"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Hands-free Interaction</a:t>
            </a:r>
            <a:endParaRPr/>
          </a:p>
        </p:txBody>
      </p:sp>
      <p:sp>
        <p:nvSpPr>
          <p:cNvPr id="352" name="Google Shape;352;p25"/>
          <p:cNvSpPr txBox="1"/>
          <p:nvPr/>
        </p:nvSpPr>
        <p:spPr>
          <a:xfrm>
            <a:off x="1476375" y="2765077"/>
            <a:ext cx="34956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Natural user interaction for greater convenience.</a:t>
            </a:r>
            <a:endParaRPr/>
          </a:p>
        </p:txBody>
      </p:sp>
      <p:sp>
        <p:nvSpPr>
          <p:cNvPr id="353" name="Google Shape;353;p25"/>
          <p:cNvSpPr txBox="1"/>
          <p:nvPr/>
        </p:nvSpPr>
        <p:spPr>
          <a:xfrm>
            <a:off x="1476375" y="3610867"/>
            <a:ext cx="368046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Multilingual Support</a:t>
            </a:r>
            <a:endParaRPr/>
          </a:p>
        </p:txBody>
      </p:sp>
      <p:sp>
        <p:nvSpPr>
          <p:cNvPr id="354" name="Google Shape;354;p25"/>
          <p:cNvSpPr txBox="1"/>
          <p:nvPr/>
        </p:nvSpPr>
        <p:spPr>
          <a:xfrm>
            <a:off x="1476375" y="3944242"/>
            <a:ext cx="35052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Real-time translation breaking language barriers.</a:t>
            </a:r>
            <a:endParaRPr/>
          </a:p>
        </p:txBody>
      </p:sp>
      <p:sp>
        <p:nvSpPr>
          <p:cNvPr id="355" name="Google Shape;355;p25"/>
          <p:cNvSpPr txBox="1"/>
          <p:nvPr/>
        </p:nvSpPr>
        <p:spPr>
          <a:xfrm>
            <a:off x="1476375" y="4790033"/>
            <a:ext cx="36004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Emotion Awareness</a:t>
            </a:r>
            <a:endParaRPr/>
          </a:p>
        </p:txBody>
      </p:sp>
      <p:sp>
        <p:nvSpPr>
          <p:cNvPr id="356" name="Google Shape;356;p25"/>
          <p:cNvSpPr txBox="1"/>
          <p:nvPr/>
        </p:nvSpPr>
        <p:spPr>
          <a:xfrm>
            <a:off x="1476375" y="5123408"/>
            <a:ext cx="342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Detecting feelings for personalized interactions.</a:t>
            </a:r>
            <a:endParaRPr/>
          </a:p>
        </p:txBody>
      </p:sp>
      <p:sp>
        <p:nvSpPr>
          <p:cNvPr id="357" name="Google Shape;357;p25"/>
          <p:cNvSpPr txBox="1"/>
          <p:nvPr/>
        </p:nvSpPr>
        <p:spPr>
          <a:xfrm>
            <a:off x="7223819" y="2157412"/>
            <a:ext cx="43064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Personalized Voice Cloning</a:t>
            </a:r>
            <a:endParaRPr/>
          </a:p>
        </p:txBody>
      </p:sp>
      <p:sp>
        <p:nvSpPr>
          <p:cNvPr id="358" name="Google Shape;358;p25"/>
          <p:cNvSpPr txBox="1"/>
          <p:nvPr/>
        </p:nvSpPr>
        <p:spPr>
          <a:xfrm>
            <a:off x="7223819" y="2490787"/>
            <a:ext cx="410140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AI voices cloned from user samples for unique experience.</a:t>
            </a:r>
            <a:endParaRPr/>
          </a:p>
        </p:txBody>
      </p:sp>
      <p:sp>
        <p:nvSpPr>
          <p:cNvPr id="359" name="Google Shape;359;p25"/>
          <p:cNvSpPr txBox="1"/>
          <p:nvPr/>
        </p:nvSpPr>
        <p:spPr>
          <a:xfrm>
            <a:off x="7229475" y="3610867"/>
            <a:ext cx="36004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IoT Integration</a:t>
            </a:r>
            <a:endParaRPr/>
          </a:p>
        </p:txBody>
      </p:sp>
      <p:sp>
        <p:nvSpPr>
          <p:cNvPr id="360" name="Google Shape;360;p25"/>
          <p:cNvSpPr txBox="1"/>
          <p:nvPr/>
        </p:nvSpPr>
        <p:spPr>
          <a:xfrm>
            <a:off x="7229475" y="3944242"/>
            <a:ext cx="342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Seamless connection with smart home devices.</a:t>
            </a:r>
            <a:endParaRPr/>
          </a:p>
        </p:txBody>
      </p:sp>
      <p:sp>
        <p:nvSpPr>
          <p:cNvPr id="361" name="Google Shape;361;p25"/>
          <p:cNvSpPr txBox="1"/>
          <p:nvPr/>
        </p:nvSpPr>
        <p:spPr>
          <a:xfrm>
            <a:off x="7227837" y="4790033"/>
            <a:ext cx="4302256"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Rajdhani"/>
                <a:ea typeface="Rajdhani"/>
                <a:cs typeface="Rajdhani"/>
                <a:sym typeface="Rajdhani"/>
              </a:rPr>
              <a:t>Offline AI</a:t>
            </a:r>
            <a:endParaRPr/>
          </a:p>
        </p:txBody>
      </p:sp>
      <p:sp>
        <p:nvSpPr>
          <p:cNvPr id="362" name="Google Shape;362;p25"/>
          <p:cNvSpPr txBox="1"/>
          <p:nvPr/>
        </p:nvSpPr>
        <p:spPr>
          <a:xfrm>
            <a:off x="7227837" y="5123408"/>
            <a:ext cx="4097387"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CCCCC"/>
                </a:solidFill>
                <a:latin typeface="Titillium Web"/>
                <a:ea typeface="Titillium Web"/>
                <a:cs typeface="Titillium Web"/>
                <a:sym typeface="Titillium Web"/>
              </a:rPr>
              <a:t>Enhanced privacy and faster processing without internet.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025"/>
        </a:solidFill>
      </p:bgPr>
    </p:bg>
    <p:spTree>
      <p:nvGrpSpPr>
        <p:cNvPr id="366" name="Shape 366"/>
        <p:cNvGrpSpPr/>
        <p:nvPr/>
      </p:nvGrpSpPr>
      <p:grpSpPr>
        <a:xfrm>
          <a:off x="0" y="0"/>
          <a:ext cx="0" cy="0"/>
          <a:chOff x="0" y="0"/>
          <a:chExt cx="0" cy="0"/>
        </a:xfrm>
      </p:grpSpPr>
      <p:pic>
        <p:nvPicPr>
          <p:cNvPr descr="image.png" id="367" name="Google Shape;367;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8" name="Google Shape;368;p26"/>
          <p:cNvPicPr preferRelativeResize="0"/>
          <p:nvPr/>
        </p:nvPicPr>
        <p:blipFill rotWithShape="1">
          <a:blip r:embed="rId4">
            <a:alphaModFix/>
          </a:blip>
          <a:srcRect b="0" l="0" r="0" t="0"/>
          <a:stretch/>
        </p:blipFill>
        <p:spPr>
          <a:xfrm>
            <a:off x="581025" y="1497508"/>
            <a:ext cx="8572500" cy="3862982"/>
          </a:xfrm>
          <a:prstGeom prst="rect">
            <a:avLst/>
          </a:prstGeom>
          <a:noFill/>
          <a:ln>
            <a:noFill/>
          </a:ln>
        </p:spPr>
      </p:pic>
      <p:sp>
        <p:nvSpPr>
          <p:cNvPr id="369" name="Google Shape;369;p26"/>
          <p:cNvSpPr txBox="1"/>
          <p:nvPr/>
        </p:nvSpPr>
        <p:spPr>
          <a:xfrm>
            <a:off x="976788" y="2078533"/>
            <a:ext cx="7780972" cy="781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Rajdhani"/>
                <a:ea typeface="Rajdhani"/>
                <a:cs typeface="Rajdhani"/>
                <a:sym typeface="Rajdhani"/>
              </a:rPr>
              <a:t>BRIDGING EMOTION AND AI</a:t>
            </a:r>
            <a:endParaRPr/>
          </a:p>
        </p:txBody>
      </p:sp>
      <p:sp>
        <p:nvSpPr>
          <p:cNvPr id="370" name="Google Shape;370;p26"/>
          <p:cNvSpPr txBox="1"/>
          <p:nvPr/>
        </p:nvSpPr>
        <p:spPr>
          <a:xfrm>
            <a:off x="1162050" y="3088183"/>
            <a:ext cx="7410450" cy="1462682"/>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E0E0E0"/>
                </a:solidFill>
                <a:latin typeface="Titillium Web"/>
                <a:ea typeface="Titillium Web"/>
                <a:cs typeface="Titillium Web"/>
                <a:sym typeface="Titillium Web"/>
              </a:rPr>
              <a:t>AI voice assistants integrate speech recognition, language understanding, and voice synthesis to connect human emotion with machine logic. Their evolution highlights significant advances in artificial intelligence, enabling fluid and natural communication.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descr="image.png" id="375" name="Google Shape;375;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6" name="Google Shape;376;p27"/>
          <p:cNvPicPr preferRelativeResize="0"/>
          <p:nvPr/>
        </p:nvPicPr>
        <p:blipFill rotWithShape="1">
          <a:blip r:embed="rId4">
            <a:alphaModFix/>
          </a:blip>
          <a:srcRect b="0" l="0" r="0" t="0"/>
          <a:stretch/>
        </p:blipFill>
        <p:spPr>
          <a:xfrm>
            <a:off x="4648200" y="5184278"/>
            <a:ext cx="2895600" cy="1028700"/>
          </a:xfrm>
          <a:prstGeom prst="rect">
            <a:avLst/>
          </a:prstGeom>
          <a:noFill/>
          <a:ln>
            <a:noFill/>
          </a:ln>
        </p:spPr>
      </p:pic>
      <p:sp>
        <p:nvSpPr>
          <p:cNvPr id="377" name="Google Shape;377;p27"/>
          <p:cNvSpPr txBox="1"/>
          <p:nvPr/>
        </p:nvSpPr>
        <p:spPr>
          <a:xfrm>
            <a:off x="1595437" y="645021"/>
            <a:ext cx="9001125" cy="8477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FFFFFF"/>
                </a:solidFill>
                <a:latin typeface="Rajdhani"/>
                <a:ea typeface="Rajdhani"/>
                <a:cs typeface="Rajdhani"/>
                <a:sym typeface="Rajdhani"/>
              </a:rPr>
              <a:t>CONCLUSION</a:t>
            </a:r>
            <a:endParaRPr/>
          </a:p>
        </p:txBody>
      </p:sp>
      <p:sp>
        <p:nvSpPr>
          <p:cNvPr id="378" name="Google Shape;378;p27"/>
          <p:cNvSpPr txBox="1"/>
          <p:nvPr/>
        </p:nvSpPr>
        <p:spPr>
          <a:xfrm>
            <a:off x="1809750" y="1778496"/>
            <a:ext cx="8572500" cy="1462682"/>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E0E0E0"/>
                </a:solidFill>
                <a:latin typeface="Titillium Web"/>
                <a:ea typeface="Titillium Web"/>
                <a:cs typeface="Titillium Web"/>
                <a:sym typeface="Titillium Web"/>
              </a:rPr>
              <a:t>Project H.M.K. demonstrates the power of integrating advanced Cloud AI with voice interfaces. While current architectural limitations introduce latency, the </a:t>
            </a:r>
            <a:r>
              <a:rPr b="1" i="0" lang="en-US" sz="1800" u="none" cap="none" strike="noStrike">
                <a:solidFill>
                  <a:srgbClr val="E0E0E0"/>
                </a:solidFill>
                <a:latin typeface="Titillium Web"/>
                <a:ea typeface="Titillium Web"/>
                <a:cs typeface="Titillium Web"/>
                <a:sym typeface="Titillium Web"/>
              </a:rPr>
              <a:t>depth of understanding</a:t>
            </a:r>
            <a:r>
              <a:rPr b="0" i="0" lang="en-US" sz="1800" u="none" cap="none" strike="noStrike">
                <a:solidFill>
                  <a:srgbClr val="E0E0E0"/>
                </a:solidFill>
                <a:latin typeface="Titillium Web"/>
                <a:ea typeface="Titillium Web"/>
                <a:cs typeface="Titillium Web"/>
                <a:sym typeface="Titillium Web"/>
              </a:rPr>
              <a:t> and </a:t>
            </a:r>
            <a:r>
              <a:rPr b="1" i="0" lang="en-US" sz="1800" u="none" cap="none" strike="noStrike">
                <a:solidFill>
                  <a:srgbClr val="E0E0E0"/>
                </a:solidFill>
                <a:latin typeface="Titillium Web"/>
                <a:ea typeface="Titillium Web"/>
                <a:cs typeface="Titillium Web"/>
                <a:sym typeface="Titillium Web"/>
              </a:rPr>
              <a:t>contextual awareness</a:t>
            </a:r>
            <a:r>
              <a:rPr b="0" i="0" lang="en-US" sz="1800" u="none" cap="none" strike="noStrike">
                <a:solidFill>
                  <a:srgbClr val="E0E0E0"/>
                </a:solidFill>
                <a:latin typeface="Titillium Web"/>
                <a:ea typeface="Titillium Web"/>
                <a:cs typeface="Titillium Web"/>
                <a:sym typeface="Titillium Web"/>
              </a:rPr>
              <a:t> surpasses traditional command-based assistants.</a:t>
            </a:r>
            <a:endParaRPr/>
          </a:p>
        </p:txBody>
      </p:sp>
      <p:sp>
        <p:nvSpPr>
          <p:cNvPr id="379" name="Google Shape;379;p27"/>
          <p:cNvSpPr txBox="1"/>
          <p:nvPr/>
        </p:nvSpPr>
        <p:spPr>
          <a:xfrm>
            <a:off x="1809750" y="3622178"/>
            <a:ext cx="85725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AAAAAA"/>
                </a:solidFill>
                <a:latin typeface="Titillium Web"/>
                <a:ea typeface="Titillium Web"/>
                <a:cs typeface="Titillium Web"/>
                <a:sym typeface="Titillium Web"/>
              </a:rPr>
              <a:t>The future lies in optimizing this balance—bringing LLM intelligence to the edge for real-time, emotional, and truly intelligent interaction.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descr="image.png" id="384" name="Google Shape;384;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5" name="Google Shape;385;p28"/>
          <p:cNvSpPr txBox="1"/>
          <p:nvPr/>
        </p:nvSpPr>
        <p:spPr>
          <a:xfrm>
            <a:off x="771525" y="39558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IMAGE SOURCES</a:t>
            </a:r>
            <a:endParaRPr/>
          </a:p>
        </p:txBody>
      </p:sp>
      <p:sp>
        <p:nvSpPr>
          <p:cNvPr id="386" name="Google Shape;386;p28"/>
          <p:cNvSpPr/>
          <p:nvPr/>
        </p:nvSpPr>
        <p:spPr>
          <a:xfrm>
            <a:off x="581025" y="39558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8"/>
          <p:cNvSpPr/>
          <p:nvPr/>
        </p:nvSpPr>
        <p:spPr>
          <a:xfrm>
            <a:off x="581025" y="2340471"/>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28"/>
          <p:cNvSpPr/>
          <p:nvPr/>
        </p:nvSpPr>
        <p:spPr>
          <a:xfrm>
            <a:off x="581025" y="3125241"/>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28"/>
          <p:cNvSpPr/>
          <p:nvPr/>
        </p:nvSpPr>
        <p:spPr>
          <a:xfrm>
            <a:off x="581025" y="391001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28"/>
          <p:cNvSpPr/>
          <p:nvPr/>
        </p:nvSpPr>
        <p:spPr>
          <a:xfrm>
            <a:off x="581025" y="4694783"/>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8"/>
          <p:cNvSpPr/>
          <p:nvPr/>
        </p:nvSpPr>
        <p:spPr>
          <a:xfrm>
            <a:off x="581025" y="5677644"/>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92" name="Google Shape;392;p28"/>
          <p:cNvPicPr preferRelativeResize="0"/>
          <p:nvPr/>
        </p:nvPicPr>
        <p:blipFill rotWithShape="1">
          <a:blip r:embed="rId4">
            <a:alphaModFix/>
          </a:blip>
          <a:srcRect b="0" l="0" r="0" t="0"/>
          <a:stretch/>
        </p:blipFill>
        <p:spPr>
          <a:xfrm>
            <a:off x="581025" y="1615678"/>
            <a:ext cx="857250" cy="476250"/>
          </a:xfrm>
          <a:prstGeom prst="rect">
            <a:avLst/>
          </a:prstGeom>
          <a:noFill/>
          <a:ln>
            <a:noFill/>
          </a:ln>
        </p:spPr>
      </p:pic>
      <p:sp>
        <p:nvSpPr>
          <p:cNvPr id="393" name="Google Shape;393;p28"/>
          <p:cNvSpPr txBox="1"/>
          <p:nvPr/>
        </p:nvSpPr>
        <p:spPr>
          <a:xfrm>
            <a:off x="1676400" y="1510010"/>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https://static.vecteezy.com/system/resources/previews/068/226/851/non_2x/dark-gray-rounded-digital-audio-waveform-visualizing-sound-frequency-with-vertical-bars-and-small-dots-on-white-background-representing-audio-signal-processing-music-editing-and-sound-design-vector.jpg</a:t>
            </a:r>
            <a:endParaRPr/>
          </a:p>
        </p:txBody>
      </p:sp>
      <p:sp>
        <p:nvSpPr>
          <p:cNvPr id="394" name="Google Shape;394;p28"/>
          <p:cNvSpPr txBox="1"/>
          <p:nvPr/>
        </p:nvSpPr>
        <p:spPr>
          <a:xfrm>
            <a:off x="1676400" y="1953815"/>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www.vecteezy.com</a:t>
            </a:r>
            <a:endParaRPr/>
          </a:p>
        </p:txBody>
      </p:sp>
      <p:pic>
        <p:nvPicPr>
          <p:cNvPr descr="image.png" id="395" name="Google Shape;395;p28"/>
          <p:cNvPicPr preferRelativeResize="0"/>
          <p:nvPr/>
        </p:nvPicPr>
        <p:blipFill rotWithShape="1">
          <a:blip r:embed="rId5">
            <a:alphaModFix/>
          </a:blip>
          <a:srcRect b="0" l="0" r="0" t="0"/>
          <a:stretch/>
        </p:blipFill>
        <p:spPr>
          <a:xfrm>
            <a:off x="581025" y="2499419"/>
            <a:ext cx="857250" cy="476250"/>
          </a:xfrm>
          <a:prstGeom prst="rect">
            <a:avLst/>
          </a:prstGeom>
          <a:noFill/>
          <a:ln>
            <a:noFill/>
          </a:ln>
        </p:spPr>
      </p:pic>
      <p:sp>
        <p:nvSpPr>
          <p:cNvPr id="396" name="Google Shape;396;p28"/>
          <p:cNvSpPr txBox="1"/>
          <p:nvPr/>
        </p:nvSpPr>
        <p:spPr>
          <a:xfrm>
            <a:off x="1676400" y="2492871"/>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https://theaisummer.com/static/dc1990cd6e885f6ae46a960e6f54b4fa/ee604/speech-recognition.png</a:t>
            </a:r>
            <a:endParaRPr/>
          </a:p>
        </p:txBody>
      </p:sp>
      <p:sp>
        <p:nvSpPr>
          <p:cNvPr id="397" name="Google Shape;397;p28"/>
          <p:cNvSpPr txBox="1"/>
          <p:nvPr/>
        </p:nvSpPr>
        <p:spPr>
          <a:xfrm>
            <a:off x="1676400" y="2738586"/>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theaisummer.com</a:t>
            </a:r>
            <a:endParaRPr/>
          </a:p>
        </p:txBody>
      </p:sp>
      <p:pic>
        <p:nvPicPr>
          <p:cNvPr descr="image.png" id="398" name="Google Shape;398;p28"/>
          <p:cNvPicPr preferRelativeResize="0"/>
          <p:nvPr/>
        </p:nvPicPr>
        <p:blipFill rotWithShape="1">
          <a:blip r:embed="rId6">
            <a:alphaModFix/>
          </a:blip>
          <a:srcRect b="0" l="0" r="0" t="0"/>
          <a:stretch/>
        </p:blipFill>
        <p:spPr>
          <a:xfrm>
            <a:off x="581025" y="3284190"/>
            <a:ext cx="857250" cy="476250"/>
          </a:xfrm>
          <a:prstGeom prst="rect">
            <a:avLst/>
          </a:prstGeom>
          <a:noFill/>
          <a:ln>
            <a:noFill/>
          </a:ln>
        </p:spPr>
      </p:pic>
      <p:sp>
        <p:nvSpPr>
          <p:cNvPr id="399" name="Google Shape;399;p28"/>
          <p:cNvSpPr txBox="1"/>
          <p:nvPr/>
        </p:nvSpPr>
        <p:spPr>
          <a:xfrm>
            <a:off x="1676400" y="3277641"/>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https://www.devoteam.com/wp-content/uploads/2024/11/architecture-api-management-devoteam-tt-width-975-height-1221-fill-0-crop-0-bgcolor-eeeeee-except_gif-1.jpg</a:t>
            </a:r>
            <a:endParaRPr/>
          </a:p>
        </p:txBody>
      </p:sp>
      <p:sp>
        <p:nvSpPr>
          <p:cNvPr id="400" name="Google Shape;400;p28"/>
          <p:cNvSpPr txBox="1"/>
          <p:nvPr/>
        </p:nvSpPr>
        <p:spPr>
          <a:xfrm>
            <a:off x="1676400" y="352335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www.devoteam.com</a:t>
            </a:r>
            <a:endParaRPr/>
          </a:p>
        </p:txBody>
      </p:sp>
      <p:pic>
        <p:nvPicPr>
          <p:cNvPr descr="image.png" id="401" name="Google Shape;401;p28"/>
          <p:cNvPicPr preferRelativeResize="0"/>
          <p:nvPr/>
        </p:nvPicPr>
        <p:blipFill rotWithShape="1">
          <a:blip r:embed="rId7">
            <a:alphaModFix/>
          </a:blip>
          <a:srcRect b="0" l="0" r="0" t="0"/>
          <a:stretch/>
        </p:blipFill>
        <p:spPr>
          <a:xfrm>
            <a:off x="581025" y="4068960"/>
            <a:ext cx="857250" cy="476250"/>
          </a:xfrm>
          <a:prstGeom prst="rect">
            <a:avLst/>
          </a:prstGeom>
          <a:noFill/>
          <a:ln>
            <a:noFill/>
          </a:ln>
        </p:spPr>
      </p:pic>
      <p:sp>
        <p:nvSpPr>
          <p:cNvPr id="402" name="Google Shape;402;p28"/>
          <p:cNvSpPr txBox="1"/>
          <p:nvPr/>
        </p:nvSpPr>
        <p:spPr>
          <a:xfrm>
            <a:off x="1676400" y="406241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https://pub.mdpi-res.com/audiolres/audiolres-15-00014/article_deploy/html/images/audiolres-15-00014-g001.png?1739155803</a:t>
            </a:r>
            <a:endParaRPr/>
          </a:p>
        </p:txBody>
      </p:sp>
      <p:sp>
        <p:nvSpPr>
          <p:cNvPr id="403" name="Google Shape;403;p28"/>
          <p:cNvSpPr txBox="1"/>
          <p:nvPr/>
        </p:nvSpPr>
        <p:spPr>
          <a:xfrm>
            <a:off x="1676400" y="430812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www.mdpi.com</a:t>
            </a:r>
            <a:endParaRPr/>
          </a:p>
        </p:txBody>
      </p:sp>
      <p:pic>
        <p:nvPicPr>
          <p:cNvPr descr="image.png" id="404" name="Google Shape;404;p28"/>
          <p:cNvPicPr preferRelativeResize="0"/>
          <p:nvPr/>
        </p:nvPicPr>
        <p:blipFill rotWithShape="1">
          <a:blip r:embed="rId8">
            <a:alphaModFix/>
          </a:blip>
          <a:srcRect b="0" l="0" r="0" t="0"/>
          <a:stretch/>
        </p:blipFill>
        <p:spPr>
          <a:xfrm>
            <a:off x="581025" y="4952851"/>
            <a:ext cx="857250" cy="476250"/>
          </a:xfrm>
          <a:prstGeom prst="rect">
            <a:avLst/>
          </a:prstGeom>
          <a:noFill/>
          <a:ln>
            <a:noFill/>
          </a:ln>
        </p:spPr>
      </p:pic>
      <p:sp>
        <p:nvSpPr>
          <p:cNvPr id="405" name="Google Shape;405;p28"/>
          <p:cNvSpPr txBox="1"/>
          <p:nvPr/>
        </p:nvSpPr>
        <p:spPr>
          <a:xfrm>
            <a:off x="1676400" y="4847183"/>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https://fedtechmagazine.com/sites/fedtechmagazine.com/files/styles/cdw_hero/public/articles/%5Bcdw_tech_site%3Afield_site_shortname%5D/201901/FedTech-ITFuturistQ1.jpg?itok=hbocMWwL</a:t>
            </a:r>
            <a:endParaRPr/>
          </a:p>
        </p:txBody>
      </p:sp>
      <p:sp>
        <p:nvSpPr>
          <p:cNvPr id="406" name="Google Shape;406;p28"/>
          <p:cNvSpPr txBox="1"/>
          <p:nvPr/>
        </p:nvSpPr>
        <p:spPr>
          <a:xfrm>
            <a:off x="1676400" y="5290988"/>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fedtechmagazine.com</a:t>
            </a:r>
            <a:endParaRPr/>
          </a:p>
        </p:txBody>
      </p:sp>
      <p:pic>
        <p:nvPicPr>
          <p:cNvPr descr="image.png" id="407" name="Google Shape;407;p28"/>
          <p:cNvPicPr preferRelativeResize="0"/>
          <p:nvPr/>
        </p:nvPicPr>
        <p:blipFill rotWithShape="1">
          <a:blip r:embed="rId9">
            <a:alphaModFix/>
          </a:blip>
          <a:srcRect b="0" l="0" r="0" t="0"/>
          <a:stretch/>
        </p:blipFill>
        <p:spPr>
          <a:xfrm>
            <a:off x="581025" y="5836592"/>
            <a:ext cx="857250" cy="476250"/>
          </a:xfrm>
          <a:prstGeom prst="rect">
            <a:avLst/>
          </a:prstGeom>
          <a:noFill/>
          <a:ln>
            <a:noFill/>
          </a:ln>
        </p:spPr>
      </p:pic>
      <p:sp>
        <p:nvSpPr>
          <p:cNvPr id="408" name="Google Shape;408;p28"/>
          <p:cNvSpPr txBox="1"/>
          <p:nvPr/>
        </p:nvSpPr>
        <p:spPr>
          <a:xfrm>
            <a:off x="1676400" y="5830044"/>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https://www.aeologic.com/blog/wp-content/uploads/2023/06/2162-1024x597.jpg</a:t>
            </a:r>
            <a:endParaRPr/>
          </a:p>
        </p:txBody>
      </p:sp>
      <p:sp>
        <p:nvSpPr>
          <p:cNvPr id="409" name="Google Shape;409;p28"/>
          <p:cNvSpPr txBox="1"/>
          <p:nvPr/>
        </p:nvSpPr>
        <p:spPr>
          <a:xfrm>
            <a:off x="1676400" y="6075759"/>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www.aeologic.com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descr="image.png" id="414" name="Google Shape;414;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5" name="Google Shape;415;p29"/>
          <p:cNvSpPr txBox="1"/>
          <p:nvPr/>
        </p:nvSpPr>
        <p:spPr>
          <a:xfrm>
            <a:off x="771525" y="581025"/>
            <a:ext cx="11381422"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F0FF"/>
                </a:solidFill>
                <a:latin typeface="Rajdhani"/>
                <a:ea typeface="Rajdhani"/>
                <a:cs typeface="Rajdhani"/>
                <a:sym typeface="Rajdhani"/>
              </a:rPr>
              <a:t>IMAGE SOURCES</a:t>
            </a:r>
            <a:endParaRPr/>
          </a:p>
        </p:txBody>
      </p:sp>
      <p:sp>
        <p:nvSpPr>
          <p:cNvPr id="416" name="Google Shape;416;p29"/>
          <p:cNvSpPr/>
          <p:nvPr/>
        </p:nvSpPr>
        <p:spPr>
          <a:xfrm>
            <a:off x="581025" y="581025"/>
            <a:ext cx="47625" cy="590550"/>
          </a:xfrm>
          <a:prstGeom prst="rect">
            <a:avLst/>
          </a:prstGeom>
          <a:solidFill>
            <a:srgbClr val="FF00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9"/>
          <p:cNvSpPr/>
          <p:nvPr/>
        </p:nvSpPr>
        <p:spPr>
          <a:xfrm>
            <a:off x="581025" y="3810892"/>
            <a:ext cx="1102995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8" name="Google Shape;418;p29"/>
          <p:cNvPicPr preferRelativeResize="0"/>
          <p:nvPr/>
        </p:nvPicPr>
        <p:blipFill rotWithShape="1">
          <a:blip r:embed="rId4">
            <a:alphaModFix/>
          </a:blip>
          <a:srcRect b="0" l="0" r="0" t="0"/>
          <a:stretch/>
        </p:blipFill>
        <p:spPr>
          <a:xfrm>
            <a:off x="581025" y="3185070"/>
            <a:ext cx="857250" cy="476250"/>
          </a:xfrm>
          <a:prstGeom prst="rect">
            <a:avLst/>
          </a:prstGeom>
          <a:noFill/>
          <a:ln>
            <a:noFill/>
          </a:ln>
        </p:spPr>
      </p:pic>
      <p:sp>
        <p:nvSpPr>
          <p:cNvPr id="419" name="Google Shape;419;p29"/>
          <p:cNvSpPr txBox="1"/>
          <p:nvPr/>
        </p:nvSpPr>
        <p:spPr>
          <a:xfrm>
            <a:off x="1676400" y="3178522"/>
            <a:ext cx="99345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https://hospitalsmagazine.com/wp-content/uploads/2025/03/Artificial-Intelligence-in-Healthcare.jpg</a:t>
            </a:r>
            <a:endParaRPr/>
          </a:p>
        </p:txBody>
      </p:sp>
      <p:sp>
        <p:nvSpPr>
          <p:cNvPr id="420" name="Google Shape;420;p29"/>
          <p:cNvSpPr txBox="1"/>
          <p:nvPr/>
        </p:nvSpPr>
        <p:spPr>
          <a:xfrm>
            <a:off x="1676400" y="3424237"/>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hospitalsmagazine.com</a:t>
            </a:r>
            <a:endParaRPr/>
          </a:p>
        </p:txBody>
      </p:sp>
      <p:pic>
        <p:nvPicPr>
          <p:cNvPr descr="image.png" id="421" name="Google Shape;421;p29"/>
          <p:cNvPicPr preferRelativeResize="0"/>
          <p:nvPr/>
        </p:nvPicPr>
        <p:blipFill rotWithShape="1">
          <a:blip r:embed="rId5">
            <a:alphaModFix/>
          </a:blip>
          <a:srcRect b="0" l="0" r="0" t="0"/>
          <a:stretch/>
        </p:blipFill>
        <p:spPr>
          <a:xfrm>
            <a:off x="581025" y="4068960"/>
            <a:ext cx="857250" cy="476250"/>
          </a:xfrm>
          <a:prstGeom prst="rect">
            <a:avLst/>
          </a:prstGeom>
          <a:noFill/>
          <a:ln>
            <a:noFill/>
          </a:ln>
        </p:spPr>
      </p:pic>
      <p:sp>
        <p:nvSpPr>
          <p:cNvPr id="422" name="Google Shape;422;p29"/>
          <p:cNvSpPr txBox="1"/>
          <p:nvPr/>
        </p:nvSpPr>
        <p:spPr>
          <a:xfrm>
            <a:off x="1676400" y="3963292"/>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E0E0E0"/>
                </a:solidFill>
                <a:latin typeface="Titillium Web"/>
                <a:ea typeface="Titillium Web"/>
                <a:cs typeface="Titillium Web"/>
                <a:sym typeface="Titillium Web"/>
              </a:rPr>
              <a:t>https://photos.peopleimages.com/picture/202303/2811291-face-abstract-and-futuristic-with-science-connection-and-networking-on-blue-backdrop.-future-human-facial-and-technology-to-connect-data-analysis-and-communication-with-artificial-intelligence-fit_400_400.jpg</a:t>
            </a:r>
            <a:endParaRPr/>
          </a:p>
        </p:txBody>
      </p:sp>
      <p:sp>
        <p:nvSpPr>
          <p:cNvPr id="423" name="Google Shape;423;p29"/>
          <p:cNvSpPr txBox="1"/>
          <p:nvPr/>
        </p:nvSpPr>
        <p:spPr>
          <a:xfrm>
            <a:off x="1676400" y="4407098"/>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0E0E0"/>
                </a:solidFill>
                <a:latin typeface="Titillium Web"/>
                <a:ea typeface="Titillium Web"/>
                <a:cs typeface="Titillium Web"/>
                <a:sym typeface="Titillium Web"/>
              </a:rPr>
              <a:t>Source: </a:t>
            </a:r>
            <a:r>
              <a:rPr b="0" i="0" lang="en-US" sz="1200" u="none" cap="none" strike="noStrike">
                <a:solidFill>
                  <a:srgbClr val="4F46E5"/>
                </a:solidFill>
                <a:latin typeface="Titillium Web"/>
                <a:ea typeface="Titillium Web"/>
                <a:cs typeface="Titillium Web"/>
                <a:sym typeface="Titillium Web"/>
              </a:rPr>
              <a:t>peopleimages.com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